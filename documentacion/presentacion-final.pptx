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x="18288000" cy="10287000"/>
  <p:notesSz cx="6858000" cy="9144000"/>
  <p:embeddedFontLst>
    <p:embeddedFont>
      <p:font typeface="Mokoto" charset="1" panose="00000000000000000000"/>
      <p:regular r:id="rId23"/>
    </p:embeddedFont>
    <p:embeddedFont>
      <p:font typeface="Canva Sans Bold" charset="1" panose="020B0803030501040103"/>
      <p:regular r:id="rId24"/>
    </p:embeddedFont>
    <p:embeddedFont>
      <p:font typeface="Open Sans" charset="1" panose="020B0606030504020204"/>
      <p:regular r:id="rId25"/>
    </p:embeddedFont>
    <p:embeddedFont>
      <p:font typeface="Open Sans Bold" charset="1" panose="020B0806030504020204"/>
      <p:regular r:id="rId26"/>
    </p:embeddedFont>
    <p:embeddedFont>
      <p:font typeface="Canva Sans" charset="1" panose="020B0503030501040103"/>
      <p:regular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5.png" Type="http://schemas.openxmlformats.org/officeDocument/2006/relationships/image"/><Relationship Id="rId17" Target="../media/image16.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svg" Type="http://schemas.openxmlformats.org/officeDocument/2006/relationships/image"/><Relationship Id="rId4" Target="../media/image19.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svg" Type="http://schemas.openxmlformats.org/officeDocument/2006/relationships/image"/><Relationship Id="rId4" Target="../media/image20.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 Id="rId3" Target="../media/image22.svg" Type="http://schemas.openxmlformats.org/officeDocument/2006/relationships/image"/><Relationship Id="rId4" Target="../media/image23.png" Type="http://schemas.openxmlformats.org/officeDocument/2006/relationships/image"/><Relationship Id="rId5" Target="../media/image24.svg" Type="http://schemas.openxmlformats.org/officeDocument/2006/relationships/image"/><Relationship Id="rId6" Target="../media/image17.png" Type="http://schemas.openxmlformats.org/officeDocument/2006/relationships/image"/><Relationship Id="rId7" Target="../media/image18.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png" Type="http://schemas.openxmlformats.org/officeDocument/2006/relationships/image"/><Relationship Id="rId3" Target="../media/image26.svg" Type="http://schemas.openxmlformats.org/officeDocument/2006/relationships/image"/><Relationship Id="rId4" Target="../media/image27.png" Type="http://schemas.openxmlformats.org/officeDocument/2006/relationships/image"/><Relationship Id="rId5" Target="../media/image17.png" Type="http://schemas.openxmlformats.org/officeDocument/2006/relationships/image"/><Relationship Id="rId6" Target="../media/image18.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png" Type="http://schemas.openxmlformats.org/officeDocument/2006/relationships/image"/><Relationship Id="rId3" Target="../media/image26.svg" Type="http://schemas.openxmlformats.org/officeDocument/2006/relationships/image"/><Relationship Id="rId4" Target="../media/image27.png" Type="http://schemas.openxmlformats.org/officeDocument/2006/relationships/image"/><Relationship Id="rId5" Target="../media/image17.png" Type="http://schemas.openxmlformats.org/officeDocument/2006/relationships/image"/><Relationship Id="rId6" Target="../media/image18.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svg" Type="http://schemas.openxmlformats.org/officeDocument/2006/relationships/image"/><Relationship Id="rId4" Target="../media/image28.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9.png" Type="http://schemas.openxmlformats.org/officeDocument/2006/relationships/image"/><Relationship Id="rId3" Target="../media/image30.svg" Type="http://schemas.openxmlformats.org/officeDocument/2006/relationships/image"/><Relationship Id="rId4" Target="../media/image31.png" Type="http://schemas.openxmlformats.org/officeDocument/2006/relationships/image"/><Relationship Id="rId5" Target="../media/image32.svg" Type="http://schemas.openxmlformats.org/officeDocument/2006/relationships/image"/><Relationship Id="rId6" Target="../media/image33.png" Type="http://schemas.openxmlformats.org/officeDocument/2006/relationships/image"/><Relationship Id="rId7" Target="../media/image34.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5.png" Type="http://schemas.openxmlformats.org/officeDocument/2006/relationships/image"/><Relationship Id="rId5" Target="../media/image36.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5.png" Type="http://schemas.openxmlformats.org/officeDocument/2006/relationships/image"/><Relationship Id="rId5" Target="../media/image36.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png" Type="http://schemas.openxmlformats.org/officeDocument/2006/relationships/image"/><Relationship Id="rId11" Target="../media/image6.svg" Type="http://schemas.openxmlformats.org/officeDocument/2006/relationships/image"/><Relationship Id="rId12" Target="../media/image9.png" Type="http://schemas.openxmlformats.org/officeDocument/2006/relationships/image"/><Relationship Id="rId13" Target="../media/image10.svg" Type="http://schemas.openxmlformats.org/officeDocument/2006/relationships/image"/><Relationship Id="rId2" Target="../media/image33.png" Type="http://schemas.openxmlformats.org/officeDocument/2006/relationships/image"/><Relationship Id="rId3" Target="../media/image34.svg" Type="http://schemas.openxmlformats.org/officeDocument/2006/relationships/image"/><Relationship Id="rId4" Target="../media/image37.png" Type="http://schemas.openxmlformats.org/officeDocument/2006/relationships/image"/><Relationship Id="rId5" Target="../media/image38.svg" Type="http://schemas.openxmlformats.org/officeDocument/2006/relationships/image"/><Relationship Id="rId6" Target="../media/image39.png" Type="http://schemas.openxmlformats.org/officeDocument/2006/relationships/image"/><Relationship Id="rId7" Target="../media/image40.svg" Type="http://schemas.openxmlformats.org/officeDocument/2006/relationships/image"/><Relationship Id="rId8" Target="../media/image3.png" Type="http://schemas.openxmlformats.org/officeDocument/2006/relationships/image"/><Relationship Id="rId9" Target="../media/image4.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5.png" Type="http://schemas.openxmlformats.org/officeDocument/2006/relationships/image"/><Relationship Id="rId11" Target="../media/image16.svg" Type="http://schemas.openxmlformats.org/officeDocument/2006/relationships/image"/><Relationship Id="rId12" Target="https://github.com/yumiz04/Intellitech/tree/main/04_SQLServer_StoredProcedures" TargetMode="External" Type="http://schemas.openxmlformats.org/officeDocument/2006/relationships/hyperlink"/><Relationship Id="rId2" Target="../media/image41.png" Type="http://schemas.openxmlformats.org/officeDocument/2006/relationships/image"/><Relationship Id="rId3" Target="../media/image4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0F6F5"/>
        </a:solidFill>
      </p:bgPr>
    </p:bg>
    <p:spTree>
      <p:nvGrpSpPr>
        <p:cNvPr id="1" name=""/>
        <p:cNvGrpSpPr/>
        <p:nvPr/>
      </p:nvGrpSpPr>
      <p:grpSpPr>
        <a:xfrm>
          <a:off x="0" y="0"/>
          <a:ext cx="0" cy="0"/>
          <a:chOff x="0" y="0"/>
          <a:chExt cx="0" cy="0"/>
        </a:xfrm>
      </p:grpSpPr>
      <p:sp>
        <p:nvSpPr>
          <p:cNvPr name="TextBox 2" id="2"/>
          <p:cNvSpPr txBox="true"/>
          <p:nvPr/>
        </p:nvSpPr>
        <p:spPr>
          <a:xfrm rot="0">
            <a:off x="696230" y="555430"/>
            <a:ext cx="15826460" cy="4219829"/>
          </a:xfrm>
          <a:prstGeom prst="rect">
            <a:avLst/>
          </a:prstGeom>
        </p:spPr>
        <p:txBody>
          <a:bodyPr anchor="t" rtlCol="false" tIns="0" lIns="0" bIns="0" rIns="0">
            <a:spAutoFit/>
          </a:bodyPr>
          <a:lstStyle/>
          <a:p>
            <a:pPr algn="l" marL="0" indent="0" lvl="0">
              <a:lnSpc>
                <a:spcPts val="16768"/>
              </a:lnSpc>
            </a:pPr>
            <a:r>
              <a:rPr lang="en-US" sz="13100" spc="-1624">
                <a:solidFill>
                  <a:srgbClr val="05061C"/>
                </a:solidFill>
                <a:latin typeface="Mokoto"/>
                <a:ea typeface="Mokoto"/>
                <a:cs typeface="Mokoto"/>
                <a:sym typeface="Mokoto"/>
              </a:rPr>
              <a:t>INTELLITECH RETAIL</a:t>
            </a:r>
          </a:p>
        </p:txBody>
      </p:sp>
      <p:sp>
        <p:nvSpPr>
          <p:cNvPr name="TextBox 3" id="3"/>
          <p:cNvSpPr txBox="true"/>
          <p:nvPr/>
        </p:nvSpPr>
        <p:spPr>
          <a:xfrm rot="0">
            <a:off x="696230" y="6084585"/>
            <a:ext cx="10569348" cy="967740"/>
          </a:xfrm>
          <a:prstGeom prst="rect">
            <a:avLst/>
          </a:prstGeom>
        </p:spPr>
        <p:txBody>
          <a:bodyPr anchor="t" rtlCol="false" tIns="0" lIns="0" bIns="0" rIns="0">
            <a:spAutoFit/>
          </a:bodyPr>
          <a:lstStyle/>
          <a:p>
            <a:pPr algn="l">
              <a:lnSpc>
                <a:spcPts val="3913"/>
              </a:lnSpc>
            </a:pPr>
            <a:r>
              <a:rPr lang="en-US" sz="2942" b="true">
                <a:solidFill>
                  <a:srgbClr val="FBFEFE"/>
                </a:solidFill>
                <a:latin typeface="Canva Sans Bold"/>
                <a:ea typeface="Canva Sans Bold"/>
                <a:cs typeface="Canva Sans Bold"/>
                <a:sym typeface="Canva Sans Bold"/>
              </a:rPr>
              <a:t>Danna Geraldine Avila Garcia</a:t>
            </a:r>
          </a:p>
          <a:p>
            <a:pPr algn="l" marL="0" indent="0" lvl="0">
              <a:lnSpc>
                <a:spcPts val="3913"/>
              </a:lnSpc>
            </a:pPr>
            <a:r>
              <a:rPr lang="en-US" b="true" sz="2942">
                <a:solidFill>
                  <a:srgbClr val="FBFEFE"/>
                </a:solidFill>
                <a:latin typeface="Canva Sans Bold"/>
                <a:ea typeface="Canva Sans Bold"/>
                <a:cs typeface="Canva Sans Bold"/>
                <a:sym typeface="Canva Sans Bold"/>
              </a:rPr>
              <a:t>Amado Carrillo Juárez </a:t>
            </a:r>
          </a:p>
        </p:txBody>
      </p:sp>
      <p:sp>
        <p:nvSpPr>
          <p:cNvPr name="Freeform 4" id="4"/>
          <p:cNvSpPr/>
          <p:nvPr/>
        </p:nvSpPr>
        <p:spPr>
          <a:xfrm flipH="false" flipV="false" rot="5400000">
            <a:off x="11889984" y="2658881"/>
            <a:ext cx="2525072" cy="3773885"/>
          </a:xfrm>
          <a:custGeom>
            <a:avLst/>
            <a:gdLst/>
            <a:ahLst/>
            <a:cxnLst/>
            <a:rect r="r" b="b" t="t" l="l"/>
            <a:pathLst>
              <a:path h="3773885" w="2525072">
                <a:moveTo>
                  <a:pt x="0" y="0"/>
                </a:moveTo>
                <a:lnTo>
                  <a:pt x="2525072" y="0"/>
                </a:lnTo>
                <a:lnTo>
                  <a:pt x="2525072" y="3773885"/>
                </a:lnTo>
                <a:lnTo>
                  <a:pt x="0" y="377388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049992" y="7229853"/>
            <a:ext cx="9453842" cy="3919047"/>
          </a:xfrm>
          <a:custGeom>
            <a:avLst/>
            <a:gdLst/>
            <a:ahLst/>
            <a:cxnLst/>
            <a:rect r="r" b="b" t="t" l="l"/>
            <a:pathLst>
              <a:path h="3919047" w="9453842">
                <a:moveTo>
                  <a:pt x="0" y="0"/>
                </a:moveTo>
                <a:lnTo>
                  <a:pt x="9453842" y="0"/>
                </a:lnTo>
                <a:lnTo>
                  <a:pt x="9453842" y="3919048"/>
                </a:lnTo>
                <a:lnTo>
                  <a:pt x="0" y="391904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5400000">
            <a:off x="18592438" y="1427933"/>
            <a:ext cx="956758" cy="5979735"/>
          </a:xfrm>
          <a:custGeom>
            <a:avLst/>
            <a:gdLst/>
            <a:ahLst/>
            <a:cxnLst/>
            <a:rect r="r" b="b" t="t" l="l"/>
            <a:pathLst>
              <a:path h="5979735" w="956758">
                <a:moveTo>
                  <a:pt x="0" y="0"/>
                </a:moveTo>
                <a:lnTo>
                  <a:pt x="956758" y="0"/>
                </a:lnTo>
                <a:lnTo>
                  <a:pt x="956758" y="5979735"/>
                </a:lnTo>
                <a:lnTo>
                  <a:pt x="0" y="597973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15139840" y="-873347"/>
            <a:ext cx="4133590" cy="4133590"/>
          </a:xfrm>
          <a:custGeom>
            <a:avLst/>
            <a:gdLst/>
            <a:ahLst/>
            <a:cxnLst/>
            <a:rect r="r" b="b" t="t" l="l"/>
            <a:pathLst>
              <a:path h="4133590" w="4133590">
                <a:moveTo>
                  <a:pt x="0" y="0"/>
                </a:moveTo>
                <a:lnTo>
                  <a:pt x="4133590" y="0"/>
                </a:lnTo>
                <a:lnTo>
                  <a:pt x="4133590" y="4133590"/>
                </a:lnTo>
                <a:lnTo>
                  <a:pt x="0" y="413359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5400000">
            <a:off x="18843977" y="3014944"/>
            <a:ext cx="858907" cy="5979735"/>
          </a:xfrm>
          <a:custGeom>
            <a:avLst/>
            <a:gdLst/>
            <a:ahLst/>
            <a:cxnLst/>
            <a:rect r="r" b="b" t="t" l="l"/>
            <a:pathLst>
              <a:path h="5979735" w="858907">
                <a:moveTo>
                  <a:pt x="0" y="0"/>
                </a:moveTo>
                <a:lnTo>
                  <a:pt x="858907" y="0"/>
                </a:lnTo>
                <a:lnTo>
                  <a:pt x="858907" y="5979736"/>
                </a:lnTo>
                <a:lnTo>
                  <a:pt x="0" y="597973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9" id="9"/>
          <p:cNvSpPr/>
          <p:nvPr/>
        </p:nvSpPr>
        <p:spPr>
          <a:xfrm flipH="false" flipV="false" rot="0">
            <a:off x="15278832" y="7229853"/>
            <a:ext cx="2487716" cy="5105388"/>
          </a:xfrm>
          <a:custGeom>
            <a:avLst/>
            <a:gdLst/>
            <a:ahLst/>
            <a:cxnLst/>
            <a:rect r="r" b="b" t="t" l="l"/>
            <a:pathLst>
              <a:path h="5105388" w="2487716">
                <a:moveTo>
                  <a:pt x="0" y="0"/>
                </a:moveTo>
                <a:lnTo>
                  <a:pt x="2487716" y="0"/>
                </a:lnTo>
                <a:lnTo>
                  <a:pt x="2487716" y="5105388"/>
                </a:lnTo>
                <a:lnTo>
                  <a:pt x="0" y="5105388"/>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0" id="10"/>
          <p:cNvSpPr/>
          <p:nvPr/>
        </p:nvSpPr>
        <p:spPr>
          <a:xfrm flipH="false" flipV="false" rot="0">
            <a:off x="9022975" y="7229853"/>
            <a:ext cx="2633170" cy="3368008"/>
          </a:xfrm>
          <a:custGeom>
            <a:avLst/>
            <a:gdLst/>
            <a:ahLst/>
            <a:cxnLst/>
            <a:rect r="r" b="b" t="t" l="l"/>
            <a:pathLst>
              <a:path h="3368008" w="2633170">
                <a:moveTo>
                  <a:pt x="0" y="0"/>
                </a:moveTo>
                <a:lnTo>
                  <a:pt x="2633171" y="0"/>
                </a:lnTo>
                <a:lnTo>
                  <a:pt x="2633171" y="3368009"/>
                </a:lnTo>
                <a:lnTo>
                  <a:pt x="0" y="3368009"/>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1" id="11"/>
          <p:cNvSpPr/>
          <p:nvPr/>
        </p:nvSpPr>
        <p:spPr>
          <a:xfrm flipH="false" flipV="false" rot="0">
            <a:off x="12051031" y="7364372"/>
            <a:ext cx="2608676" cy="3368008"/>
          </a:xfrm>
          <a:custGeom>
            <a:avLst/>
            <a:gdLst/>
            <a:ahLst/>
            <a:cxnLst/>
            <a:rect r="r" b="b" t="t" l="l"/>
            <a:pathLst>
              <a:path h="3368008" w="2608676">
                <a:moveTo>
                  <a:pt x="0" y="0"/>
                </a:moveTo>
                <a:lnTo>
                  <a:pt x="2608676" y="0"/>
                </a:lnTo>
                <a:lnTo>
                  <a:pt x="2608676" y="3368009"/>
                </a:lnTo>
                <a:lnTo>
                  <a:pt x="0" y="3368009"/>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TextBox 12" id="12"/>
          <p:cNvSpPr txBox="true"/>
          <p:nvPr/>
        </p:nvSpPr>
        <p:spPr>
          <a:xfrm rot="0">
            <a:off x="12481874" y="6573695"/>
            <a:ext cx="10569348" cy="478630"/>
          </a:xfrm>
          <a:prstGeom prst="rect">
            <a:avLst/>
          </a:prstGeom>
        </p:spPr>
        <p:txBody>
          <a:bodyPr anchor="t" rtlCol="false" tIns="0" lIns="0" bIns="0" rIns="0">
            <a:spAutoFit/>
          </a:bodyPr>
          <a:lstStyle/>
          <a:p>
            <a:pPr algn="l" marL="0" indent="0" lvl="0">
              <a:lnSpc>
                <a:spcPts val="3913"/>
              </a:lnSpc>
            </a:pPr>
            <a:r>
              <a:rPr lang="en-US" b="true" sz="2942">
                <a:solidFill>
                  <a:srgbClr val="FBFEFE"/>
                </a:solidFill>
                <a:latin typeface="Canva Sans Bold"/>
                <a:ea typeface="Canva Sans Bold"/>
                <a:cs typeface="Canva Sans Bold"/>
                <a:sym typeface="Canva Sans Bold"/>
              </a:rPr>
              <a:t>Leonardo Martínez Gonzáles </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0F6F5"/>
        </a:solidFill>
      </p:bgPr>
    </p:bg>
    <p:spTree>
      <p:nvGrpSpPr>
        <p:cNvPr id="1" name=""/>
        <p:cNvGrpSpPr/>
        <p:nvPr/>
      </p:nvGrpSpPr>
      <p:grpSpPr>
        <a:xfrm>
          <a:off x="0" y="0"/>
          <a:ext cx="0" cy="0"/>
          <a:chOff x="0" y="0"/>
          <a:chExt cx="0" cy="0"/>
        </a:xfrm>
      </p:grpSpPr>
      <p:sp>
        <p:nvSpPr>
          <p:cNvPr name="Freeform 2" id="2"/>
          <p:cNvSpPr/>
          <p:nvPr/>
        </p:nvSpPr>
        <p:spPr>
          <a:xfrm flipH="false" flipV="false" rot="-10800000">
            <a:off x="-5603399" y="1553416"/>
            <a:ext cx="8288984" cy="2178906"/>
          </a:xfrm>
          <a:custGeom>
            <a:avLst/>
            <a:gdLst/>
            <a:ahLst/>
            <a:cxnLst/>
            <a:rect r="r" b="b" t="t" l="l"/>
            <a:pathLst>
              <a:path h="2178906" w="8288984">
                <a:moveTo>
                  <a:pt x="0" y="0"/>
                </a:moveTo>
                <a:lnTo>
                  <a:pt x="8288985" y="0"/>
                </a:lnTo>
                <a:lnTo>
                  <a:pt x="8288985" y="2178905"/>
                </a:lnTo>
                <a:lnTo>
                  <a:pt x="0" y="217890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0800000">
            <a:off x="14879630" y="-1089453"/>
            <a:ext cx="8288984" cy="2178906"/>
          </a:xfrm>
          <a:custGeom>
            <a:avLst/>
            <a:gdLst/>
            <a:ahLst/>
            <a:cxnLst/>
            <a:rect r="r" b="b" t="t" l="l"/>
            <a:pathLst>
              <a:path h="2178906" w="8288984">
                <a:moveTo>
                  <a:pt x="0" y="0"/>
                </a:moveTo>
                <a:lnTo>
                  <a:pt x="8288984" y="0"/>
                </a:lnTo>
                <a:lnTo>
                  <a:pt x="8288984" y="2178906"/>
                </a:lnTo>
                <a:lnTo>
                  <a:pt x="0" y="217890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0" y="3334356"/>
            <a:ext cx="18288000" cy="3418262"/>
          </a:xfrm>
          <a:prstGeom prst="rect">
            <a:avLst/>
          </a:prstGeom>
        </p:spPr>
        <p:txBody>
          <a:bodyPr anchor="t" rtlCol="false" tIns="0" lIns="0" bIns="0" rIns="0">
            <a:spAutoFit/>
          </a:bodyPr>
          <a:lstStyle/>
          <a:p>
            <a:pPr algn="ctr">
              <a:lnSpc>
                <a:spcPts val="13719"/>
              </a:lnSpc>
            </a:pPr>
            <a:r>
              <a:rPr lang="en-US" sz="9799">
                <a:solidFill>
                  <a:srgbClr val="4E767D"/>
                </a:solidFill>
                <a:latin typeface="Mokoto"/>
                <a:ea typeface="Mokoto"/>
                <a:cs typeface="Mokoto"/>
                <a:sym typeface="Mokoto"/>
              </a:rPr>
              <a:t>Modelo relacional</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0F6F5"/>
        </a:solidFill>
      </p:bgPr>
    </p:bg>
    <p:spTree>
      <p:nvGrpSpPr>
        <p:cNvPr id="1" name=""/>
        <p:cNvGrpSpPr/>
        <p:nvPr/>
      </p:nvGrpSpPr>
      <p:grpSpPr>
        <a:xfrm>
          <a:off x="0" y="0"/>
          <a:ext cx="0" cy="0"/>
          <a:chOff x="0" y="0"/>
          <a:chExt cx="0" cy="0"/>
        </a:xfrm>
      </p:grpSpPr>
      <p:sp>
        <p:nvSpPr>
          <p:cNvPr name="Freeform 2" id="2"/>
          <p:cNvSpPr/>
          <p:nvPr/>
        </p:nvSpPr>
        <p:spPr>
          <a:xfrm flipH="false" flipV="false" rot="-10800000">
            <a:off x="-5603399" y="1553416"/>
            <a:ext cx="8288984" cy="2178906"/>
          </a:xfrm>
          <a:custGeom>
            <a:avLst/>
            <a:gdLst/>
            <a:ahLst/>
            <a:cxnLst/>
            <a:rect r="r" b="b" t="t" l="l"/>
            <a:pathLst>
              <a:path h="2178906" w="8288984">
                <a:moveTo>
                  <a:pt x="0" y="0"/>
                </a:moveTo>
                <a:lnTo>
                  <a:pt x="8288985" y="0"/>
                </a:lnTo>
                <a:lnTo>
                  <a:pt x="8288985" y="2178905"/>
                </a:lnTo>
                <a:lnTo>
                  <a:pt x="0" y="217890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0800000">
            <a:off x="14879630" y="-1089453"/>
            <a:ext cx="8288984" cy="2178906"/>
          </a:xfrm>
          <a:custGeom>
            <a:avLst/>
            <a:gdLst/>
            <a:ahLst/>
            <a:cxnLst/>
            <a:rect r="r" b="b" t="t" l="l"/>
            <a:pathLst>
              <a:path h="2178906" w="8288984">
                <a:moveTo>
                  <a:pt x="0" y="0"/>
                </a:moveTo>
                <a:lnTo>
                  <a:pt x="8288984" y="0"/>
                </a:lnTo>
                <a:lnTo>
                  <a:pt x="8288984" y="2178906"/>
                </a:lnTo>
                <a:lnTo>
                  <a:pt x="0" y="217890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429742" y="230837"/>
            <a:ext cx="17428517" cy="9825326"/>
          </a:xfrm>
          <a:custGeom>
            <a:avLst/>
            <a:gdLst/>
            <a:ahLst/>
            <a:cxnLst/>
            <a:rect r="r" b="b" t="t" l="l"/>
            <a:pathLst>
              <a:path h="9825326" w="17428517">
                <a:moveTo>
                  <a:pt x="0" y="0"/>
                </a:moveTo>
                <a:lnTo>
                  <a:pt x="17428516" y="0"/>
                </a:lnTo>
                <a:lnTo>
                  <a:pt x="17428516" y="9825326"/>
                </a:lnTo>
                <a:lnTo>
                  <a:pt x="0" y="9825326"/>
                </a:lnTo>
                <a:lnTo>
                  <a:pt x="0" y="0"/>
                </a:lnTo>
                <a:close/>
              </a:path>
            </a:pathLst>
          </a:custGeom>
          <a:blipFill>
            <a:blip r:embed="rId4"/>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0F6F5"/>
        </a:solidFill>
      </p:bgPr>
    </p:bg>
    <p:spTree>
      <p:nvGrpSpPr>
        <p:cNvPr id="1" name=""/>
        <p:cNvGrpSpPr/>
        <p:nvPr/>
      </p:nvGrpSpPr>
      <p:grpSpPr>
        <a:xfrm>
          <a:off x="0" y="0"/>
          <a:ext cx="0" cy="0"/>
          <a:chOff x="0" y="0"/>
          <a:chExt cx="0" cy="0"/>
        </a:xfrm>
      </p:grpSpPr>
      <p:sp>
        <p:nvSpPr>
          <p:cNvPr name="TextBox 2" id="2"/>
          <p:cNvSpPr txBox="true"/>
          <p:nvPr/>
        </p:nvSpPr>
        <p:spPr>
          <a:xfrm rot="0">
            <a:off x="671268" y="852991"/>
            <a:ext cx="16945463" cy="836012"/>
          </a:xfrm>
          <a:prstGeom prst="rect">
            <a:avLst/>
          </a:prstGeom>
        </p:spPr>
        <p:txBody>
          <a:bodyPr anchor="t" rtlCol="false" tIns="0" lIns="0" bIns="0" rIns="0">
            <a:spAutoFit/>
          </a:bodyPr>
          <a:lstStyle/>
          <a:p>
            <a:pPr algn="ctr">
              <a:lnSpc>
                <a:spcPts val="6503"/>
              </a:lnSpc>
            </a:pPr>
            <a:r>
              <a:rPr lang="en-US" sz="5655">
                <a:solidFill>
                  <a:srgbClr val="000000"/>
                </a:solidFill>
                <a:latin typeface="Mokoto"/>
                <a:ea typeface="Mokoto"/>
                <a:cs typeface="Mokoto"/>
                <a:sym typeface="Mokoto"/>
              </a:rPr>
              <a:t>MODELO RELACIONAL: </a:t>
            </a:r>
          </a:p>
        </p:txBody>
      </p:sp>
      <p:sp>
        <p:nvSpPr>
          <p:cNvPr name="Freeform 3" id="3"/>
          <p:cNvSpPr/>
          <p:nvPr/>
        </p:nvSpPr>
        <p:spPr>
          <a:xfrm flipH="false" flipV="false" rot="-10800000">
            <a:off x="-5603399" y="1553416"/>
            <a:ext cx="8288984" cy="2178906"/>
          </a:xfrm>
          <a:custGeom>
            <a:avLst/>
            <a:gdLst/>
            <a:ahLst/>
            <a:cxnLst/>
            <a:rect r="r" b="b" t="t" l="l"/>
            <a:pathLst>
              <a:path h="2178906" w="8288984">
                <a:moveTo>
                  <a:pt x="0" y="0"/>
                </a:moveTo>
                <a:lnTo>
                  <a:pt x="8288985" y="0"/>
                </a:lnTo>
                <a:lnTo>
                  <a:pt x="8288985" y="2178905"/>
                </a:lnTo>
                <a:lnTo>
                  <a:pt x="0" y="217890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10800000">
            <a:off x="14879630" y="-1089453"/>
            <a:ext cx="8288984" cy="2178906"/>
          </a:xfrm>
          <a:custGeom>
            <a:avLst/>
            <a:gdLst/>
            <a:ahLst/>
            <a:cxnLst/>
            <a:rect r="r" b="b" t="t" l="l"/>
            <a:pathLst>
              <a:path h="2178906" w="8288984">
                <a:moveTo>
                  <a:pt x="0" y="0"/>
                </a:moveTo>
                <a:lnTo>
                  <a:pt x="8288984" y="0"/>
                </a:lnTo>
                <a:lnTo>
                  <a:pt x="8288984" y="2178906"/>
                </a:lnTo>
                <a:lnTo>
                  <a:pt x="0" y="217890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4760852" y="2065142"/>
            <a:ext cx="8766296" cy="7582846"/>
          </a:xfrm>
          <a:custGeom>
            <a:avLst/>
            <a:gdLst/>
            <a:ahLst/>
            <a:cxnLst/>
            <a:rect r="r" b="b" t="t" l="l"/>
            <a:pathLst>
              <a:path h="7582846" w="8766296">
                <a:moveTo>
                  <a:pt x="0" y="0"/>
                </a:moveTo>
                <a:lnTo>
                  <a:pt x="8766296" y="0"/>
                </a:lnTo>
                <a:lnTo>
                  <a:pt x="8766296" y="7582846"/>
                </a:lnTo>
                <a:lnTo>
                  <a:pt x="0" y="7582846"/>
                </a:lnTo>
                <a:lnTo>
                  <a:pt x="0" y="0"/>
                </a:lnTo>
                <a:close/>
              </a:path>
            </a:pathLst>
          </a:custGeom>
          <a:blipFill>
            <a:blip r:embed="rId4"/>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0F6F5"/>
        </a:solidFill>
      </p:bgPr>
    </p:bg>
    <p:spTree>
      <p:nvGrpSpPr>
        <p:cNvPr id="1" name=""/>
        <p:cNvGrpSpPr/>
        <p:nvPr/>
      </p:nvGrpSpPr>
      <p:grpSpPr>
        <a:xfrm>
          <a:off x="0" y="0"/>
          <a:ext cx="0" cy="0"/>
          <a:chOff x="0" y="0"/>
          <a:chExt cx="0" cy="0"/>
        </a:xfrm>
      </p:grpSpPr>
      <p:sp>
        <p:nvSpPr>
          <p:cNvPr name="TextBox 2" id="2"/>
          <p:cNvSpPr txBox="true"/>
          <p:nvPr/>
        </p:nvSpPr>
        <p:spPr>
          <a:xfrm rot="0">
            <a:off x="671268" y="1377138"/>
            <a:ext cx="16945463" cy="1655054"/>
          </a:xfrm>
          <a:prstGeom prst="rect">
            <a:avLst/>
          </a:prstGeom>
        </p:spPr>
        <p:txBody>
          <a:bodyPr anchor="t" rtlCol="false" tIns="0" lIns="0" bIns="0" rIns="0">
            <a:spAutoFit/>
          </a:bodyPr>
          <a:lstStyle/>
          <a:p>
            <a:pPr algn="ctr">
              <a:lnSpc>
                <a:spcPts val="6503"/>
              </a:lnSpc>
            </a:pPr>
            <a:r>
              <a:rPr lang="en-US" sz="5655">
                <a:solidFill>
                  <a:srgbClr val="000000"/>
                </a:solidFill>
                <a:latin typeface="Mokoto"/>
                <a:ea typeface="Mokoto"/>
                <a:cs typeface="Mokoto"/>
                <a:sym typeface="Mokoto"/>
              </a:rPr>
              <a:t>PROBLEMA 1: ALPLICACION DE DESCUENTO POR STOCK</a:t>
            </a:r>
          </a:p>
        </p:txBody>
      </p:sp>
      <p:sp>
        <p:nvSpPr>
          <p:cNvPr name="Freeform 3" id="3"/>
          <p:cNvSpPr/>
          <p:nvPr/>
        </p:nvSpPr>
        <p:spPr>
          <a:xfrm flipH="false" flipV="false" rot="0">
            <a:off x="7288480" y="4293954"/>
            <a:ext cx="3711040" cy="3137515"/>
          </a:xfrm>
          <a:custGeom>
            <a:avLst/>
            <a:gdLst/>
            <a:ahLst/>
            <a:cxnLst/>
            <a:rect r="r" b="b" t="t" l="l"/>
            <a:pathLst>
              <a:path h="3137515" w="3711040">
                <a:moveTo>
                  <a:pt x="0" y="0"/>
                </a:moveTo>
                <a:lnTo>
                  <a:pt x="3711040" y="0"/>
                </a:lnTo>
                <a:lnTo>
                  <a:pt x="3711040" y="3137515"/>
                </a:lnTo>
                <a:lnTo>
                  <a:pt x="0" y="313751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7374561" y="7745183"/>
            <a:ext cx="3538878" cy="1421986"/>
          </a:xfrm>
          <a:custGeom>
            <a:avLst/>
            <a:gdLst/>
            <a:ahLst/>
            <a:cxnLst/>
            <a:rect r="r" b="b" t="t" l="l"/>
            <a:pathLst>
              <a:path h="1421986" w="3538878">
                <a:moveTo>
                  <a:pt x="0" y="0"/>
                </a:moveTo>
                <a:lnTo>
                  <a:pt x="3538878" y="0"/>
                </a:lnTo>
                <a:lnTo>
                  <a:pt x="3538878" y="1421985"/>
                </a:lnTo>
                <a:lnTo>
                  <a:pt x="0" y="142198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10800000">
            <a:off x="-5603399" y="1553416"/>
            <a:ext cx="8288984" cy="2178906"/>
          </a:xfrm>
          <a:custGeom>
            <a:avLst/>
            <a:gdLst/>
            <a:ahLst/>
            <a:cxnLst/>
            <a:rect r="r" b="b" t="t" l="l"/>
            <a:pathLst>
              <a:path h="2178906" w="8288984">
                <a:moveTo>
                  <a:pt x="0" y="0"/>
                </a:moveTo>
                <a:lnTo>
                  <a:pt x="8288985" y="0"/>
                </a:lnTo>
                <a:lnTo>
                  <a:pt x="8288985" y="2178905"/>
                </a:lnTo>
                <a:lnTo>
                  <a:pt x="0" y="217890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10800000">
            <a:off x="14879630" y="-1089453"/>
            <a:ext cx="8288984" cy="2178906"/>
          </a:xfrm>
          <a:custGeom>
            <a:avLst/>
            <a:gdLst/>
            <a:ahLst/>
            <a:cxnLst/>
            <a:rect r="r" b="b" t="t" l="l"/>
            <a:pathLst>
              <a:path h="2178906" w="8288984">
                <a:moveTo>
                  <a:pt x="0" y="0"/>
                </a:moveTo>
                <a:lnTo>
                  <a:pt x="8288984" y="0"/>
                </a:lnTo>
                <a:lnTo>
                  <a:pt x="8288984" y="2178906"/>
                </a:lnTo>
                <a:lnTo>
                  <a:pt x="0" y="217890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0F6F5"/>
        </a:solidFill>
      </p:bgPr>
    </p:bg>
    <p:spTree>
      <p:nvGrpSpPr>
        <p:cNvPr id="1" name=""/>
        <p:cNvGrpSpPr/>
        <p:nvPr/>
      </p:nvGrpSpPr>
      <p:grpSpPr>
        <a:xfrm>
          <a:off x="0" y="0"/>
          <a:ext cx="0" cy="0"/>
          <a:chOff x="0" y="0"/>
          <a:chExt cx="0" cy="0"/>
        </a:xfrm>
      </p:grpSpPr>
      <p:sp>
        <p:nvSpPr>
          <p:cNvPr name="TextBox 2" id="2"/>
          <p:cNvSpPr txBox="true"/>
          <p:nvPr/>
        </p:nvSpPr>
        <p:spPr>
          <a:xfrm rot="0">
            <a:off x="1475995" y="1434870"/>
            <a:ext cx="9001599" cy="1106346"/>
          </a:xfrm>
          <a:prstGeom prst="rect">
            <a:avLst/>
          </a:prstGeom>
        </p:spPr>
        <p:txBody>
          <a:bodyPr anchor="t" rtlCol="false" tIns="0" lIns="0" bIns="0" rIns="0">
            <a:spAutoFit/>
          </a:bodyPr>
          <a:lstStyle/>
          <a:p>
            <a:pPr algn="l" marL="0" indent="0" lvl="0">
              <a:lnSpc>
                <a:spcPts val="8740"/>
              </a:lnSpc>
            </a:pPr>
            <a:r>
              <a:rPr lang="en-US" sz="7106" spc="-156">
                <a:solidFill>
                  <a:srgbClr val="05061C"/>
                </a:solidFill>
                <a:latin typeface="Mokoto"/>
                <a:ea typeface="Mokoto"/>
                <a:cs typeface="Mokoto"/>
                <a:sym typeface="Mokoto"/>
              </a:rPr>
              <a:t>Explicación:</a:t>
            </a:r>
          </a:p>
        </p:txBody>
      </p:sp>
      <p:sp>
        <p:nvSpPr>
          <p:cNvPr name="TextBox 3" id="3"/>
          <p:cNvSpPr txBox="true"/>
          <p:nvPr/>
        </p:nvSpPr>
        <p:spPr>
          <a:xfrm rot="0">
            <a:off x="1475995" y="4786316"/>
            <a:ext cx="8044036" cy="3060198"/>
          </a:xfrm>
          <a:prstGeom prst="rect">
            <a:avLst/>
          </a:prstGeom>
        </p:spPr>
        <p:txBody>
          <a:bodyPr anchor="t" rtlCol="false" tIns="0" lIns="0" bIns="0" rIns="0">
            <a:spAutoFit/>
          </a:bodyPr>
          <a:lstStyle/>
          <a:p>
            <a:pPr algn="just">
              <a:lnSpc>
                <a:spcPts val="4070"/>
              </a:lnSpc>
            </a:pPr>
            <a:r>
              <a:rPr lang="en-US" b="true" sz="2907">
                <a:solidFill>
                  <a:srgbClr val="05061C"/>
                </a:solidFill>
                <a:latin typeface="Canva Sans Bold"/>
                <a:ea typeface="Canva Sans Bold"/>
                <a:cs typeface="Canva Sans Bold"/>
                <a:sym typeface="Canva Sans Bold"/>
              </a:rPr>
              <a:t>Se utiliza para aplicar un descuento a los precios de los productos en una categoría específica, siempre y cuando el stock de esos productos sea menor a un límite dado por el usuario. Además, registra los cambios en una tabla de auditorías.</a:t>
            </a:r>
          </a:p>
        </p:txBody>
      </p:sp>
      <p:sp>
        <p:nvSpPr>
          <p:cNvPr name="Freeform 4" id="4"/>
          <p:cNvSpPr/>
          <p:nvPr/>
        </p:nvSpPr>
        <p:spPr>
          <a:xfrm flipH="false" flipV="false" rot="0">
            <a:off x="10722874" y="1281812"/>
            <a:ext cx="3681087" cy="4708368"/>
          </a:xfrm>
          <a:custGeom>
            <a:avLst/>
            <a:gdLst/>
            <a:ahLst/>
            <a:cxnLst/>
            <a:rect r="r" b="b" t="t" l="l"/>
            <a:pathLst>
              <a:path h="4708368" w="3681087">
                <a:moveTo>
                  <a:pt x="0" y="0"/>
                </a:moveTo>
                <a:lnTo>
                  <a:pt x="3681088" y="0"/>
                </a:lnTo>
                <a:lnTo>
                  <a:pt x="3681088" y="4708368"/>
                </a:lnTo>
                <a:lnTo>
                  <a:pt x="0" y="470836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0722874" y="6590151"/>
            <a:ext cx="6339789" cy="2628131"/>
          </a:xfrm>
          <a:custGeom>
            <a:avLst/>
            <a:gdLst/>
            <a:ahLst/>
            <a:cxnLst/>
            <a:rect r="r" b="b" t="t" l="l"/>
            <a:pathLst>
              <a:path h="2628131" w="6339789">
                <a:moveTo>
                  <a:pt x="0" y="0"/>
                </a:moveTo>
                <a:lnTo>
                  <a:pt x="6339789" y="0"/>
                </a:lnTo>
                <a:lnTo>
                  <a:pt x="6339789" y="2628130"/>
                </a:lnTo>
                <a:lnTo>
                  <a:pt x="0" y="262813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6514395" y="1334524"/>
            <a:ext cx="744905" cy="4655656"/>
          </a:xfrm>
          <a:custGeom>
            <a:avLst/>
            <a:gdLst/>
            <a:ahLst/>
            <a:cxnLst/>
            <a:rect r="r" b="b" t="t" l="l"/>
            <a:pathLst>
              <a:path h="4655656" w="744905">
                <a:moveTo>
                  <a:pt x="0" y="0"/>
                </a:moveTo>
                <a:lnTo>
                  <a:pt x="744905" y="0"/>
                </a:lnTo>
                <a:lnTo>
                  <a:pt x="744905" y="4655656"/>
                </a:lnTo>
                <a:lnTo>
                  <a:pt x="0" y="465565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15249391" y="1334524"/>
            <a:ext cx="668721" cy="4655656"/>
          </a:xfrm>
          <a:custGeom>
            <a:avLst/>
            <a:gdLst/>
            <a:ahLst/>
            <a:cxnLst/>
            <a:rect r="r" b="b" t="t" l="l"/>
            <a:pathLst>
              <a:path h="4655656" w="668721">
                <a:moveTo>
                  <a:pt x="0" y="0"/>
                </a:moveTo>
                <a:lnTo>
                  <a:pt x="668722" y="0"/>
                </a:lnTo>
                <a:lnTo>
                  <a:pt x="668722" y="4655656"/>
                </a:lnTo>
                <a:lnTo>
                  <a:pt x="0" y="465565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0F6F5"/>
        </a:solidFill>
      </p:bgPr>
    </p:bg>
    <p:spTree>
      <p:nvGrpSpPr>
        <p:cNvPr id="1" name=""/>
        <p:cNvGrpSpPr/>
        <p:nvPr/>
      </p:nvGrpSpPr>
      <p:grpSpPr>
        <a:xfrm>
          <a:off x="0" y="0"/>
          <a:ext cx="0" cy="0"/>
          <a:chOff x="0" y="0"/>
          <a:chExt cx="0" cy="0"/>
        </a:xfrm>
      </p:grpSpPr>
      <p:sp>
        <p:nvSpPr>
          <p:cNvPr name="TextBox 2" id="2"/>
          <p:cNvSpPr txBox="true"/>
          <p:nvPr/>
        </p:nvSpPr>
        <p:spPr>
          <a:xfrm rot="0">
            <a:off x="671268" y="852991"/>
            <a:ext cx="16945463" cy="835958"/>
          </a:xfrm>
          <a:prstGeom prst="rect">
            <a:avLst/>
          </a:prstGeom>
        </p:spPr>
        <p:txBody>
          <a:bodyPr anchor="t" rtlCol="false" tIns="0" lIns="0" bIns="0" rIns="0">
            <a:spAutoFit/>
          </a:bodyPr>
          <a:lstStyle/>
          <a:p>
            <a:pPr algn="ctr">
              <a:lnSpc>
                <a:spcPts val="6503"/>
              </a:lnSpc>
            </a:pPr>
            <a:r>
              <a:rPr lang="en-US" sz="5655">
                <a:solidFill>
                  <a:srgbClr val="000000"/>
                </a:solidFill>
                <a:latin typeface="Mokoto"/>
                <a:ea typeface="Mokoto"/>
                <a:cs typeface="Mokoto"/>
                <a:sym typeface="Mokoto"/>
              </a:rPr>
              <a:t>APLICACIÓN EN LA TIENDA</a:t>
            </a:r>
          </a:p>
        </p:txBody>
      </p:sp>
      <p:sp>
        <p:nvSpPr>
          <p:cNvPr name="Freeform 3" id="3"/>
          <p:cNvSpPr/>
          <p:nvPr/>
        </p:nvSpPr>
        <p:spPr>
          <a:xfrm flipH="false" flipV="false" rot="-10800000">
            <a:off x="-5603399" y="1553416"/>
            <a:ext cx="8288984" cy="2178906"/>
          </a:xfrm>
          <a:custGeom>
            <a:avLst/>
            <a:gdLst/>
            <a:ahLst/>
            <a:cxnLst/>
            <a:rect r="r" b="b" t="t" l="l"/>
            <a:pathLst>
              <a:path h="2178906" w="8288984">
                <a:moveTo>
                  <a:pt x="0" y="0"/>
                </a:moveTo>
                <a:lnTo>
                  <a:pt x="8288985" y="0"/>
                </a:lnTo>
                <a:lnTo>
                  <a:pt x="8288985" y="2178905"/>
                </a:lnTo>
                <a:lnTo>
                  <a:pt x="0" y="217890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10800000">
            <a:off x="14879630" y="-1089453"/>
            <a:ext cx="8288984" cy="2178906"/>
          </a:xfrm>
          <a:custGeom>
            <a:avLst/>
            <a:gdLst/>
            <a:ahLst/>
            <a:cxnLst/>
            <a:rect r="r" b="b" t="t" l="l"/>
            <a:pathLst>
              <a:path h="2178906" w="8288984">
                <a:moveTo>
                  <a:pt x="0" y="0"/>
                </a:moveTo>
                <a:lnTo>
                  <a:pt x="8288984" y="0"/>
                </a:lnTo>
                <a:lnTo>
                  <a:pt x="8288984" y="2178906"/>
                </a:lnTo>
                <a:lnTo>
                  <a:pt x="0" y="217890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5" id="5"/>
          <p:cNvSpPr txBox="true"/>
          <p:nvPr/>
        </p:nvSpPr>
        <p:spPr>
          <a:xfrm rot="0">
            <a:off x="0" y="3405280"/>
            <a:ext cx="18288000" cy="1180411"/>
          </a:xfrm>
          <a:prstGeom prst="rect">
            <a:avLst/>
          </a:prstGeom>
        </p:spPr>
        <p:txBody>
          <a:bodyPr anchor="t" rtlCol="false" tIns="0" lIns="0" bIns="0" rIns="0">
            <a:spAutoFit/>
          </a:bodyPr>
          <a:lstStyle/>
          <a:p>
            <a:pPr algn="ctr">
              <a:lnSpc>
                <a:spcPts val="4759"/>
              </a:lnSpc>
            </a:pPr>
            <a:r>
              <a:rPr lang="en-US" sz="3399">
                <a:solidFill>
                  <a:srgbClr val="000000"/>
                </a:solidFill>
                <a:latin typeface="Open Sans"/>
                <a:ea typeface="Open Sans"/>
                <a:cs typeface="Open Sans"/>
                <a:sym typeface="Open Sans"/>
              </a:rPr>
              <a:t>En Intellitech Retail, este procedimiento es útil para gestionar descuentos de manera eficiente y mantener un registro detallado de las modificaciones de precios.</a:t>
            </a:r>
          </a:p>
        </p:txBody>
      </p:sp>
      <p:sp>
        <p:nvSpPr>
          <p:cNvPr name="TextBox 6" id="6"/>
          <p:cNvSpPr txBox="true"/>
          <p:nvPr/>
        </p:nvSpPr>
        <p:spPr>
          <a:xfrm rot="0">
            <a:off x="0" y="6302022"/>
            <a:ext cx="18288000" cy="2380507"/>
          </a:xfrm>
          <a:prstGeom prst="rect">
            <a:avLst/>
          </a:prstGeom>
        </p:spPr>
        <p:txBody>
          <a:bodyPr anchor="t" rtlCol="false" tIns="0" lIns="0" bIns="0" rIns="0">
            <a:spAutoFit/>
          </a:bodyPr>
          <a:lstStyle/>
          <a:p>
            <a:pPr algn="ctr">
              <a:lnSpc>
                <a:spcPts val="4759"/>
              </a:lnSpc>
            </a:pPr>
            <a:r>
              <a:rPr lang="en-US" sz="3399">
                <a:solidFill>
                  <a:srgbClr val="000000"/>
                </a:solidFill>
                <a:latin typeface="Open Sans"/>
                <a:ea typeface="Open Sans"/>
                <a:cs typeface="Open Sans"/>
                <a:sym typeface="Open Sans"/>
              </a:rPr>
              <a:t>Supongamos que en Intellitech Retail se quiere aplicar un descuento del 10% a todos los productos de la categoría "Cámaras" que tienen un stock menor a 10 unidades. Esto puede ayudar a la tienda a mover el inventario más rápidamente y </a:t>
            </a:r>
            <a:r>
              <a:rPr lang="en-US" sz="3399" b="true">
                <a:solidFill>
                  <a:srgbClr val="000000"/>
                </a:solidFill>
                <a:latin typeface="Open Sans Bold"/>
                <a:ea typeface="Open Sans Bold"/>
                <a:cs typeface="Open Sans Bold"/>
                <a:sym typeface="Open Sans Bold"/>
              </a:rPr>
              <a:t>evitar el exceso de stock de productos que no se venden tan bien.</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0F6F5"/>
        </a:solidFill>
      </p:bgPr>
    </p:bg>
    <p:spTree>
      <p:nvGrpSpPr>
        <p:cNvPr id="1" name=""/>
        <p:cNvGrpSpPr/>
        <p:nvPr/>
      </p:nvGrpSpPr>
      <p:grpSpPr>
        <a:xfrm>
          <a:off x="0" y="0"/>
          <a:ext cx="0" cy="0"/>
          <a:chOff x="0" y="0"/>
          <a:chExt cx="0" cy="0"/>
        </a:xfrm>
      </p:grpSpPr>
      <p:sp>
        <p:nvSpPr>
          <p:cNvPr name="TextBox 2" id="2"/>
          <p:cNvSpPr txBox="true"/>
          <p:nvPr/>
        </p:nvSpPr>
        <p:spPr>
          <a:xfrm rot="0">
            <a:off x="1475995" y="1434870"/>
            <a:ext cx="9246879" cy="2211192"/>
          </a:xfrm>
          <a:prstGeom prst="rect">
            <a:avLst/>
          </a:prstGeom>
        </p:spPr>
        <p:txBody>
          <a:bodyPr anchor="t" rtlCol="false" tIns="0" lIns="0" bIns="0" rIns="0">
            <a:spAutoFit/>
          </a:bodyPr>
          <a:lstStyle/>
          <a:p>
            <a:pPr algn="l" marL="0" indent="0" lvl="0">
              <a:lnSpc>
                <a:spcPts val="8740"/>
              </a:lnSpc>
            </a:pPr>
            <a:r>
              <a:rPr lang="en-US" sz="7106" spc="-156">
                <a:solidFill>
                  <a:srgbClr val="05061C"/>
                </a:solidFill>
                <a:latin typeface="Mokoto"/>
                <a:ea typeface="Mokoto"/>
                <a:cs typeface="Mokoto"/>
                <a:sym typeface="Mokoto"/>
              </a:rPr>
              <a:t>Pasos Generales:</a:t>
            </a:r>
          </a:p>
        </p:txBody>
      </p:sp>
      <p:sp>
        <p:nvSpPr>
          <p:cNvPr name="Freeform 3" id="3"/>
          <p:cNvSpPr/>
          <p:nvPr/>
        </p:nvSpPr>
        <p:spPr>
          <a:xfrm flipH="false" flipV="false" rot="0">
            <a:off x="10722874" y="1281812"/>
            <a:ext cx="3681087" cy="4708368"/>
          </a:xfrm>
          <a:custGeom>
            <a:avLst/>
            <a:gdLst/>
            <a:ahLst/>
            <a:cxnLst/>
            <a:rect r="r" b="b" t="t" l="l"/>
            <a:pathLst>
              <a:path h="4708368" w="3681087">
                <a:moveTo>
                  <a:pt x="0" y="0"/>
                </a:moveTo>
                <a:lnTo>
                  <a:pt x="3681088" y="0"/>
                </a:lnTo>
                <a:lnTo>
                  <a:pt x="3681088" y="4708368"/>
                </a:lnTo>
                <a:lnTo>
                  <a:pt x="0" y="470836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0722874" y="6590151"/>
            <a:ext cx="6339789" cy="2628131"/>
          </a:xfrm>
          <a:custGeom>
            <a:avLst/>
            <a:gdLst/>
            <a:ahLst/>
            <a:cxnLst/>
            <a:rect r="r" b="b" t="t" l="l"/>
            <a:pathLst>
              <a:path h="2628131" w="6339789">
                <a:moveTo>
                  <a:pt x="0" y="0"/>
                </a:moveTo>
                <a:lnTo>
                  <a:pt x="6339789" y="0"/>
                </a:lnTo>
                <a:lnTo>
                  <a:pt x="6339789" y="2628130"/>
                </a:lnTo>
                <a:lnTo>
                  <a:pt x="0" y="262813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6514395" y="1334524"/>
            <a:ext cx="744905" cy="4655656"/>
          </a:xfrm>
          <a:custGeom>
            <a:avLst/>
            <a:gdLst/>
            <a:ahLst/>
            <a:cxnLst/>
            <a:rect r="r" b="b" t="t" l="l"/>
            <a:pathLst>
              <a:path h="4655656" w="744905">
                <a:moveTo>
                  <a:pt x="0" y="0"/>
                </a:moveTo>
                <a:lnTo>
                  <a:pt x="744905" y="0"/>
                </a:lnTo>
                <a:lnTo>
                  <a:pt x="744905" y="4655656"/>
                </a:lnTo>
                <a:lnTo>
                  <a:pt x="0" y="465565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15249391" y="1334524"/>
            <a:ext cx="668721" cy="4655656"/>
          </a:xfrm>
          <a:custGeom>
            <a:avLst/>
            <a:gdLst/>
            <a:ahLst/>
            <a:cxnLst/>
            <a:rect r="r" b="b" t="t" l="l"/>
            <a:pathLst>
              <a:path h="4655656" w="668721">
                <a:moveTo>
                  <a:pt x="0" y="0"/>
                </a:moveTo>
                <a:lnTo>
                  <a:pt x="668722" y="0"/>
                </a:lnTo>
                <a:lnTo>
                  <a:pt x="668722" y="4655656"/>
                </a:lnTo>
                <a:lnTo>
                  <a:pt x="0" y="465565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7" id="7"/>
          <p:cNvSpPr txBox="true"/>
          <p:nvPr/>
        </p:nvSpPr>
        <p:spPr>
          <a:xfrm rot="0">
            <a:off x="1475995" y="4074879"/>
            <a:ext cx="8044036" cy="3634733"/>
          </a:xfrm>
          <a:prstGeom prst="rect">
            <a:avLst/>
          </a:prstGeom>
        </p:spPr>
        <p:txBody>
          <a:bodyPr anchor="t" rtlCol="false" tIns="0" lIns="0" bIns="0" rIns="0">
            <a:spAutoFit/>
          </a:bodyPr>
          <a:lstStyle/>
          <a:p>
            <a:pPr algn="just" marL="635282" indent="-317641" lvl="1">
              <a:lnSpc>
                <a:spcPts val="5884"/>
              </a:lnSpc>
              <a:buAutoNum type="arabicPeriod" startAt="1"/>
            </a:pPr>
            <a:r>
              <a:rPr lang="en-US" b="true" sz="2942">
                <a:solidFill>
                  <a:srgbClr val="05061C"/>
                </a:solidFill>
                <a:latin typeface="Canva Sans Bold"/>
                <a:ea typeface="Canva Sans Bold"/>
                <a:cs typeface="Canva Sans Bold"/>
                <a:sym typeface="Canva Sans Bold"/>
              </a:rPr>
              <a:t>Creación de la tabla auditorias_precios</a:t>
            </a:r>
          </a:p>
          <a:p>
            <a:pPr algn="just" marL="635282" indent="-317641" lvl="1">
              <a:lnSpc>
                <a:spcPts val="5884"/>
              </a:lnSpc>
              <a:buAutoNum type="arabicPeriod" startAt="1"/>
            </a:pPr>
            <a:r>
              <a:rPr lang="en-US" b="true" sz="2942">
                <a:solidFill>
                  <a:srgbClr val="05061C"/>
                </a:solidFill>
                <a:latin typeface="Canva Sans Bold"/>
                <a:ea typeface="Canva Sans Bold"/>
                <a:cs typeface="Canva Sans Bold"/>
                <a:sym typeface="Canva Sans Bold"/>
              </a:rPr>
              <a:t>Creación de la FN para validar Categoría</a:t>
            </a:r>
          </a:p>
          <a:p>
            <a:pPr algn="just" marL="635282" indent="-317641" lvl="1">
              <a:lnSpc>
                <a:spcPts val="5884"/>
              </a:lnSpc>
              <a:buAutoNum type="arabicPeriod" startAt="1"/>
            </a:pPr>
            <a:r>
              <a:rPr lang="en-US" b="true" sz="2942">
                <a:solidFill>
                  <a:srgbClr val="05061C"/>
                </a:solidFill>
                <a:latin typeface="Canva Sans Bold"/>
                <a:ea typeface="Canva Sans Bold"/>
                <a:cs typeface="Canva Sans Bold"/>
                <a:sym typeface="Canva Sans Bold"/>
              </a:rPr>
              <a:t>Creación del Stored Procedure</a:t>
            </a:r>
          </a:p>
          <a:p>
            <a:pPr algn="just" marL="635282" indent="-317641" lvl="1">
              <a:lnSpc>
                <a:spcPts val="5884"/>
              </a:lnSpc>
              <a:buAutoNum type="arabicPeriod" startAt="1"/>
            </a:pPr>
            <a:r>
              <a:rPr lang="en-US" b="true" sz="2942">
                <a:solidFill>
                  <a:srgbClr val="05061C"/>
                </a:solidFill>
                <a:latin typeface="Canva Sans Bold"/>
                <a:ea typeface="Canva Sans Bold"/>
                <a:cs typeface="Canva Sans Bold"/>
                <a:sym typeface="Canva Sans Bold"/>
              </a:rPr>
              <a:t>Trigger para validaciones</a:t>
            </a:r>
          </a:p>
          <a:p>
            <a:pPr algn="just" marL="635282" indent="-317641" lvl="1">
              <a:lnSpc>
                <a:spcPts val="5884"/>
              </a:lnSpc>
              <a:buAutoNum type="arabicPeriod" startAt="1"/>
            </a:pPr>
            <a:r>
              <a:rPr lang="en-US" b="true" sz="2942">
                <a:solidFill>
                  <a:srgbClr val="05061C"/>
                </a:solidFill>
                <a:latin typeface="Canva Sans Bold"/>
                <a:ea typeface="Canva Sans Bold"/>
                <a:cs typeface="Canva Sans Bold"/>
                <a:sym typeface="Canva Sans Bold"/>
              </a:rPr>
              <a:t>Comprobación con la exec del SP</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0F6F5"/>
        </a:solidFill>
      </p:bgPr>
    </p:bg>
    <p:spTree>
      <p:nvGrpSpPr>
        <p:cNvPr id="1" name=""/>
        <p:cNvGrpSpPr/>
        <p:nvPr/>
      </p:nvGrpSpPr>
      <p:grpSpPr>
        <a:xfrm>
          <a:off x="0" y="0"/>
          <a:ext cx="0" cy="0"/>
          <a:chOff x="0" y="0"/>
          <a:chExt cx="0" cy="0"/>
        </a:xfrm>
      </p:grpSpPr>
      <p:sp>
        <p:nvSpPr>
          <p:cNvPr name="TextBox 2" id="2"/>
          <p:cNvSpPr txBox="true"/>
          <p:nvPr/>
        </p:nvSpPr>
        <p:spPr>
          <a:xfrm rot="0">
            <a:off x="1475995" y="1434870"/>
            <a:ext cx="9246879" cy="1106346"/>
          </a:xfrm>
          <a:prstGeom prst="rect">
            <a:avLst/>
          </a:prstGeom>
        </p:spPr>
        <p:txBody>
          <a:bodyPr anchor="t" rtlCol="false" tIns="0" lIns="0" bIns="0" rIns="0">
            <a:spAutoFit/>
          </a:bodyPr>
          <a:lstStyle/>
          <a:p>
            <a:pPr algn="l" marL="0" indent="0" lvl="0">
              <a:lnSpc>
                <a:spcPts val="8740"/>
              </a:lnSpc>
            </a:pPr>
            <a:r>
              <a:rPr lang="en-US" sz="7106" spc="-156">
                <a:solidFill>
                  <a:srgbClr val="05061C"/>
                </a:solidFill>
                <a:latin typeface="Mokoto"/>
                <a:ea typeface="Mokoto"/>
                <a:cs typeface="Mokoto"/>
                <a:sym typeface="Mokoto"/>
              </a:rPr>
              <a:t>Pasos del sp:</a:t>
            </a:r>
          </a:p>
        </p:txBody>
      </p:sp>
      <p:sp>
        <p:nvSpPr>
          <p:cNvPr name="Freeform 3" id="3"/>
          <p:cNvSpPr/>
          <p:nvPr/>
        </p:nvSpPr>
        <p:spPr>
          <a:xfrm flipH="false" flipV="false" rot="0">
            <a:off x="10722874" y="1281812"/>
            <a:ext cx="3681087" cy="4708368"/>
          </a:xfrm>
          <a:custGeom>
            <a:avLst/>
            <a:gdLst/>
            <a:ahLst/>
            <a:cxnLst/>
            <a:rect r="r" b="b" t="t" l="l"/>
            <a:pathLst>
              <a:path h="4708368" w="3681087">
                <a:moveTo>
                  <a:pt x="0" y="0"/>
                </a:moveTo>
                <a:lnTo>
                  <a:pt x="3681088" y="0"/>
                </a:lnTo>
                <a:lnTo>
                  <a:pt x="3681088" y="4708368"/>
                </a:lnTo>
                <a:lnTo>
                  <a:pt x="0" y="470836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0722874" y="6590151"/>
            <a:ext cx="6339789" cy="2628131"/>
          </a:xfrm>
          <a:custGeom>
            <a:avLst/>
            <a:gdLst/>
            <a:ahLst/>
            <a:cxnLst/>
            <a:rect r="r" b="b" t="t" l="l"/>
            <a:pathLst>
              <a:path h="2628131" w="6339789">
                <a:moveTo>
                  <a:pt x="0" y="0"/>
                </a:moveTo>
                <a:lnTo>
                  <a:pt x="6339789" y="0"/>
                </a:lnTo>
                <a:lnTo>
                  <a:pt x="6339789" y="2628130"/>
                </a:lnTo>
                <a:lnTo>
                  <a:pt x="0" y="262813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6514395" y="1334524"/>
            <a:ext cx="744905" cy="4655656"/>
          </a:xfrm>
          <a:custGeom>
            <a:avLst/>
            <a:gdLst/>
            <a:ahLst/>
            <a:cxnLst/>
            <a:rect r="r" b="b" t="t" l="l"/>
            <a:pathLst>
              <a:path h="4655656" w="744905">
                <a:moveTo>
                  <a:pt x="0" y="0"/>
                </a:moveTo>
                <a:lnTo>
                  <a:pt x="744905" y="0"/>
                </a:lnTo>
                <a:lnTo>
                  <a:pt x="744905" y="4655656"/>
                </a:lnTo>
                <a:lnTo>
                  <a:pt x="0" y="465565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15249391" y="1334524"/>
            <a:ext cx="668721" cy="4655656"/>
          </a:xfrm>
          <a:custGeom>
            <a:avLst/>
            <a:gdLst/>
            <a:ahLst/>
            <a:cxnLst/>
            <a:rect r="r" b="b" t="t" l="l"/>
            <a:pathLst>
              <a:path h="4655656" w="668721">
                <a:moveTo>
                  <a:pt x="0" y="0"/>
                </a:moveTo>
                <a:lnTo>
                  <a:pt x="668722" y="0"/>
                </a:lnTo>
                <a:lnTo>
                  <a:pt x="668722" y="4655656"/>
                </a:lnTo>
                <a:lnTo>
                  <a:pt x="0" y="465565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7" id="7"/>
          <p:cNvSpPr txBox="true"/>
          <p:nvPr/>
        </p:nvSpPr>
        <p:spPr>
          <a:xfrm rot="0">
            <a:off x="1475995" y="4074879"/>
            <a:ext cx="8044036" cy="4377656"/>
          </a:xfrm>
          <a:prstGeom prst="rect">
            <a:avLst/>
          </a:prstGeom>
        </p:spPr>
        <p:txBody>
          <a:bodyPr anchor="t" rtlCol="false" tIns="0" lIns="0" bIns="0" rIns="0">
            <a:spAutoFit/>
          </a:bodyPr>
          <a:lstStyle/>
          <a:p>
            <a:pPr algn="just" marL="635282" indent="-317641" lvl="1">
              <a:lnSpc>
                <a:spcPts val="5884"/>
              </a:lnSpc>
              <a:buAutoNum type="arabicPeriod" startAt="1"/>
            </a:pPr>
            <a:r>
              <a:rPr lang="en-US" b="true" sz="2942">
                <a:solidFill>
                  <a:srgbClr val="05061C"/>
                </a:solidFill>
                <a:latin typeface="Canva Sans Bold"/>
                <a:ea typeface="Canva Sans Bold"/>
                <a:cs typeface="Canva Sans Bold"/>
                <a:sym typeface="Canva Sans Bold"/>
              </a:rPr>
              <a:t>Validación de parámetros</a:t>
            </a:r>
          </a:p>
          <a:p>
            <a:pPr algn="just" marL="635282" indent="-317641" lvl="1">
              <a:lnSpc>
                <a:spcPts val="5884"/>
              </a:lnSpc>
              <a:buAutoNum type="arabicPeriod" startAt="1"/>
            </a:pPr>
            <a:r>
              <a:rPr lang="en-US" b="true" sz="2942">
                <a:solidFill>
                  <a:srgbClr val="05061C"/>
                </a:solidFill>
                <a:latin typeface="Canva Sans Bold"/>
                <a:ea typeface="Canva Sans Bold"/>
                <a:cs typeface="Canva Sans Bold"/>
                <a:sym typeface="Canva Sans Bold"/>
              </a:rPr>
              <a:t>Validación de categoría</a:t>
            </a:r>
          </a:p>
          <a:p>
            <a:pPr algn="just" marL="635282" indent="-317641" lvl="1">
              <a:lnSpc>
                <a:spcPts val="5884"/>
              </a:lnSpc>
              <a:buAutoNum type="arabicPeriod" startAt="1"/>
            </a:pPr>
            <a:r>
              <a:rPr lang="en-US" b="true" sz="2942">
                <a:solidFill>
                  <a:srgbClr val="05061C"/>
                </a:solidFill>
                <a:latin typeface="Canva Sans Bold"/>
                <a:ea typeface="Canva Sans Bold"/>
                <a:cs typeface="Canva Sans Bold"/>
                <a:sym typeface="Canva Sans Bold"/>
              </a:rPr>
              <a:t>Captura de precios originales</a:t>
            </a:r>
          </a:p>
          <a:p>
            <a:pPr algn="just" marL="635282" indent="-317641" lvl="1">
              <a:lnSpc>
                <a:spcPts val="5884"/>
              </a:lnSpc>
              <a:buAutoNum type="arabicPeriod" startAt="1"/>
            </a:pPr>
            <a:r>
              <a:rPr lang="en-US" b="true" sz="2942">
                <a:solidFill>
                  <a:srgbClr val="05061C"/>
                </a:solidFill>
                <a:latin typeface="Canva Sans Bold"/>
                <a:ea typeface="Canva Sans Bold"/>
                <a:cs typeface="Canva Sans Bold"/>
                <a:sym typeface="Canva Sans Bold"/>
              </a:rPr>
              <a:t>Actualización de precios</a:t>
            </a:r>
          </a:p>
          <a:p>
            <a:pPr algn="just" marL="635282" indent="-317641" lvl="1">
              <a:lnSpc>
                <a:spcPts val="5884"/>
              </a:lnSpc>
              <a:buAutoNum type="arabicPeriod" startAt="1"/>
            </a:pPr>
            <a:r>
              <a:rPr lang="en-US" b="true" sz="2942">
                <a:solidFill>
                  <a:srgbClr val="05061C"/>
                </a:solidFill>
                <a:latin typeface="Canva Sans Bold"/>
                <a:ea typeface="Canva Sans Bold"/>
                <a:cs typeface="Canva Sans Bold"/>
                <a:sym typeface="Canva Sans Bold"/>
              </a:rPr>
              <a:t>Registro en auditorías</a:t>
            </a:r>
          </a:p>
          <a:p>
            <a:pPr algn="just" marL="635282" indent="-317641" lvl="1">
              <a:lnSpc>
                <a:spcPts val="5884"/>
              </a:lnSpc>
              <a:buAutoNum type="arabicPeriod" startAt="1"/>
            </a:pPr>
            <a:r>
              <a:rPr lang="en-US" b="true" sz="2942">
                <a:solidFill>
                  <a:srgbClr val="05061C"/>
                </a:solidFill>
                <a:latin typeface="Canva Sans Bold"/>
                <a:ea typeface="Canva Sans Bold"/>
                <a:cs typeface="Canva Sans Bold"/>
                <a:sym typeface="Canva Sans Bold"/>
              </a:rPr>
              <a:t>Manejo de errores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0F6F5"/>
        </a:solidFill>
      </p:bgPr>
    </p:bg>
    <p:spTree>
      <p:nvGrpSpPr>
        <p:cNvPr id="1" name=""/>
        <p:cNvGrpSpPr/>
        <p:nvPr/>
      </p:nvGrpSpPr>
      <p:grpSpPr>
        <a:xfrm>
          <a:off x="0" y="0"/>
          <a:ext cx="0" cy="0"/>
          <a:chOff x="0" y="0"/>
          <a:chExt cx="0" cy="0"/>
        </a:xfrm>
      </p:grpSpPr>
      <p:sp>
        <p:nvSpPr>
          <p:cNvPr name="Freeform 2" id="2"/>
          <p:cNvSpPr/>
          <p:nvPr/>
        </p:nvSpPr>
        <p:spPr>
          <a:xfrm flipH="false" flipV="false" rot="-10800000">
            <a:off x="-2805621" y="8942007"/>
            <a:ext cx="8288984" cy="2178906"/>
          </a:xfrm>
          <a:custGeom>
            <a:avLst/>
            <a:gdLst/>
            <a:ahLst/>
            <a:cxnLst/>
            <a:rect r="r" b="b" t="t" l="l"/>
            <a:pathLst>
              <a:path h="2178906" w="8288984">
                <a:moveTo>
                  <a:pt x="0" y="0"/>
                </a:moveTo>
                <a:lnTo>
                  <a:pt x="8288985" y="0"/>
                </a:lnTo>
                <a:lnTo>
                  <a:pt x="8288985" y="2178906"/>
                </a:lnTo>
                <a:lnTo>
                  <a:pt x="0" y="217890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028700" y="3937464"/>
            <a:ext cx="9969435" cy="5703651"/>
          </a:xfrm>
          <a:prstGeom prst="rect">
            <a:avLst/>
          </a:prstGeom>
        </p:spPr>
        <p:txBody>
          <a:bodyPr anchor="t" rtlCol="false" tIns="0" lIns="0" bIns="0" rIns="0">
            <a:spAutoFit/>
          </a:bodyPr>
          <a:lstStyle/>
          <a:p>
            <a:pPr algn="just">
              <a:lnSpc>
                <a:spcPts val="3775"/>
              </a:lnSpc>
            </a:pPr>
          </a:p>
          <a:p>
            <a:pPr algn="just">
              <a:lnSpc>
                <a:spcPts val="3775"/>
              </a:lnSpc>
            </a:pPr>
            <a:r>
              <a:rPr lang="en-US" sz="2696">
                <a:solidFill>
                  <a:srgbClr val="05061C"/>
                </a:solidFill>
                <a:latin typeface="Canva Sans"/>
                <a:ea typeface="Canva Sans"/>
                <a:cs typeface="Canva Sans"/>
                <a:sym typeface="Canva Sans"/>
              </a:rPr>
              <a:t>A lo largo del desarrollo del script, he aprendido que los procedimientos almacenados son herramientas poderosas que nos permiten ejecutar </a:t>
            </a:r>
            <a:r>
              <a:rPr lang="en-US" b="true" sz="2696">
                <a:solidFill>
                  <a:srgbClr val="05061C"/>
                </a:solidFill>
                <a:latin typeface="Canva Sans Bold"/>
                <a:ea typeface="Canva Sans Bold"/>
                <a:cs typeface="Canva Sans Bold"/>
                <a:sym typeface="Canva Sans Bold"/>
              </a:rPr>
              <a:t>una serie de instrucciones o pasos para resolver un problema específico</a:t>
            </a:r>
            <a:r>
              <a:rPr lang="en-US" sz="2696">
                <a:solidFill>
                  <a:srgbClr val="05061C"/>
                </a:solidFill>
                <a:latin typeface="Canva Sans"/>
                <a:ea typeface="Canva Sans"/>
                <a:cs typeface="Canva Sans"/>
                <a:sym typeface="Canva Sans"/>
              </a:rPr>
              <a:t>, dividiéndolo en partes más manejables. Estos procedimientos pueden incluir operaciones de modificación de datos como inserciones, actualizaciones y eliminaciones. Además, pueden hacer </a:t>
            </a:r>
            <a:r>
              <a:rPr lang="en-US" b="true" sz="2696">
                <a:solidFill>
                  <a:srgbClr val="05061C"/>
                </a:solidFill>
                <a:latin typeface="Canva Sans Bold"/>
                <a:ea typeface="Canva Sans Bold"/>
                <a:cs typeface="Canva Sans Bold"/>
                <a:sym typeface="Canva Sans Bold"/>
              </a:rPr>
              <a:t>uso de funciones</a:t>
            </a:r>
            <a:r>
              <a:rPr lang="en-US" sz="2696">
                <a:solidFill>
                  <a:srgbClr val="05061C"/>
                </a:solidFill>
                <a:latin typeface="Canva Sans"/>
                <a:ea typeface="Canva Sans"/>
                <a:cs typeface="Canva Sans"/>
                <a:sym typeface="Canva Sans"/>
              </a:rPr>
              <a:t>, que son útiles para devolver un solo valor, como en nuestro caso, un valor de tipo BIT (equivalente a true o false en otros lenguajes, ya que SQL Server no utiliza booleanos nativos).</a:t>
            </a:r>
          </a:p>
        </p:txBody>
      </p:sp>
      <p:grpSp>
        <p:nvGrpSpPr>
          <p:cNvPr name="Group 4" id="4"/>
          <p:cNvGrpSpPr/>
          <p:nvPr/>
        </p:nvGrpSpPr>
        <p:grpSpPr>
          <a:xfrm rot="0">
            <a:off x="11404611" y="-537405"/>
            <a:ext cx="8817711" cy="11470777"/>
            <a:chOff x="0" y="0"/>
            <a:chExt cx="2322360" cy="3021110"/>
          </a:xfrm>
        </p:grpSpPr>
        <p:sp>
          <p:nvSpPr>
            <p:cNvPr name="Freeform 5" id="5"/>
            <p:cNvSpPr/>
            <p:nvPr/>
          </p:nvSpPr>
          <p:spPr>
            <a:xfrm flipH="false" flipV="false" rot="0">
              <a:off x="0" y="0"/>
              <a:ext cx="2322360" cy="3021110"/>
            </a:xfrm>
            <a:custGeom>
              <a:avLst/>
              <a:gdLst/>
              <a:ahLst/>
              <a:cxnLst/>
              <a:rect r="r" b="b" t="t" l="l"/>
              <a:pathLst>
                <a:path h="3021110" w="2322360">
                  <a:moveTo>
                    <a:pt x="0" y="0"/>
                  </a:moveTo>
                  <a:lnTo>
                    <a:pt x="2322360" y="0"/>
                  </a:lnTo>
                  <a:lnTo>
                    <a:pt x="2322360" y="3021110"/>
                  </a:lnTo>
                  <a:lnTo>
                    <a:pt x="0" y="3021110"/>
                  </a:lnTo>
                  <a:close/>
                </a:path>
              </a:pathLst>
            </a:custGeom>
            <a:solidFill>
              <a:srgbClr val="4E767D"/>
            </a:solidFill>
          </p:spPr>
        </p:sp>
        <p:sp>
          <p:nvSpPr>
            <p:cNvPr name="TextBox 6" id="6"/>
            <p:cNvSpPr txBox="true"/>
            <p:nvPr/>
          </p:nvSpPr>
          <p:spPr>
            <a:xfrm>
              <a:off x="0" y="-47625"/>
              <a:ext cx="2322360" cy="3068735"/>
            </a:xfrm>
            <a:prstGeom prst="rect">
              <a:avLst/>
            </a:prstGeom>
          </p:spPr>
          <p:txBody>
            <a:bodyPr anchor="ctr" rtlCol="false" tIns="50800" lIns="50800" bIns="50800" rIns="50800"/>
            <a:lstStyle/>
            <a:p>
              <a:pPr algn="ctr">
                <a:lnSpc>
                  <a:spcPts val="3174"/>
                </a:lnSpc>
              </a:pPr>
            </a:p>
          </p:txBody>
        </p:sp>
      </p:grpSp>
      <p:sp>
        <p:nvSpPr>
          <p:cNvPr name="TextBox 7" id="7"/>
          <p:cNvSpPr txBox="true"/>
          <p:nvPr/>
        </p:nvSpPr>
        <p:spPr>
          <a:xfrm rot="0">
            <a:off x="1338872" y="857250"/>
            <a:ext cx="9927072" cy="1510012"/>
          </a:xfrm>
          <a:prstGeom prst="rect">
            <a:avLst/>
          </a:prstGeom>
        </p:spPr>
        <p:txBody>
          <a:bodyPr anchor="t" rtlCol="false" tIns="0" lIns="0" bIns="0" rIns="0">
            <a:spAutoFit/>
          </a:bodyPr>
          <a:lstStyle/>
          <a:p>
            <a:pPr algn="l">
              <a:lnSpc>
                <a:spcPts val="12321"/>
              </a:lnSpc>
            </a:pPr>
            <a:r>
              <a:rPr lang="en-US" sz="8800">
                <a:solidFill>
                  <a:srgbClr val="05061C"/>
                </a:solidFill>
                <a:latin typeface="Mokoto"/>
                <a:ea typeface="Mokoto"/>
                <a:cs typeface="Mokoto"/>
                <a:sym typeface="Mokoto"/>
              </a:rPr>
              <a:t>Conclusión:</a:t>
            </a:r>
          </a:p>
        </p:txBody>
      </p:sp>
      <p:sp>
        <p:nvSpPr>
          <p:cNvPr name="Freeform 8" id="8"/>
          <p:cNvSpPr/>
          <p:nvPr/>
        </p:nvSpPr>
        <p:spPr>
          <a:xfrm flipH="true" flipV="false" rot="0">
            <a:off x="11901113" y="1392465"/>
            <a:ext cx="5935599" cy="8229600"/>
          </a:xfrm>
          <a:custGeom>
            <a:avLst/>
            <a:gdLst/>
            <a:ahLst/>
            <a:cxnLst/>
            <a:rect r="r" b="b" t="t" l="l"/>
            <a:pathLst>
              <a:path h="8229600" w="5935599">
                <a:moveTo>
                  <a:pt x="5935599" y="0"/>
                </a:moveTo>
                <a:lnTo>
                  <a:pt x="0" y="0"/>
                </a:lnTo>
                <a:lnTo>
                  <a:pt x="0" y="8229600"/>
                </a:lnTo>
                <a:lnTo>
                  <a:pt x="5935599" y="8229600"/>
                </a:lnTo>
                <a:lnTo>
                  <a:pt x="5935599" y="0"/>
                </a:lnTo>
                <a:close/>
              </a:path>
            </a:pathLst>
          </a:custGeom>
          <a:blipFill>
            <a:blip r:embed="rId4"/>
            <a:stretch>
              <a:fillRect l="0" t="0" r="0" b="0"/>
            </a:stretch>
          </a:blipFill>
        </p:spPr>
      </p:sp>
      <p:sp>
        <p:nvSpPr>
          <p:cNvPr name="Freeform 9" id="9"/>
          <p:cNvSpPr/>
          <p:nvPr/>
        </p:nvSpPr>
        <p:spPr>
          <a:xfrm flipH="false" flipV="false" rot="-10800000">
            <a:off x="15098928" y="-845750"/>
            <a:ext cx="7130775" cy="1874450"/>
          </a:xfrm>
          <a:custGeom>
            <a:avLst/>
            <a:gdLst/>
            <a:ahLst/>
            <a:cxnLst/>
            <a:rect r="r" b="b" t="t" l="l"/>
            <a:pathLst>
              <a:path h="1874450" w="7130775">
                <a:moveTo>
                  <a:pt x="0" y="0"/>
                </a:moveTo>
                <a:lnTo>
                  <a:pt x="7130775" y="0"/>
                </a:lnTo>
                <a:lnTo>
                  <a:pt x="7130775" y="1874450"/>
                </a:lnTo>
                <a:lnTo>
                  <a:pt x="0" y="187445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0" id="10"/>
          <p:cNvSpPr txBox="true"/>
          <p:nvPr/>
        </p:nvSpPr>
        <p:spPr>
          <a:xfrm rot="0">
            <a:off x="1028700" y="2486248"/>
            <a:ext cx="10998135" cy="1313179"/>
          </a:xfrm>
          <a:prstGeom prst="rect">
            <a:avLst/>
          </a:prstGeom>
        </p:spPr>
        <p:txBody>
          <a:bodyPr anchor="t" rtlCol="false" tIns="0" lIns="0" bIns="0" rIns="0">
            <a:spAutoFit/>
          </a:bodyPr>
          <a:lstStyle/>
          <a:p>
            <a:pPr algn="l">
              <a:lnSpc>
                <a:spcPts val="5320"/>
              </a:lnSpc>
            </a:pPr>
            <a:r>
              <a:rPr lang="en-US" sz="3800" b="true">
                <a:solidFill>
                  <a:srgbClr val="05061C"/>
                </a:solidFill>
                <a:latin typeface="Open Sans Bold"/>
                <a:ea typeface="Open Sans Bold"/>
                <a:cs typeface="Open Sans Bold"/>
                <a:sym typeface="Open Sans Bold"/>
              </a:rPr>
              <a:t>Procedimientos Almacenados, Funciones, Triggers y Transacciones en SQL Server</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0F6F5"/>
        </a:solidFill>
      </p:bgPr>
    </p:bg>
    <p:spTree>
      <p:nvGrpSpPr>
        <p:cNvPr id="1" name=""/>
        <p:cNvGrpSpPr/>
        <p:nvPr/>
      </p:nvGrpSpPr>
      <p:grpSpPr>
        <a:xfrm>
          <a:off x="0" y="0"/>
          <a:ext cx="0" cy="0"/>
          <a:chOff x="0" y="0"/>
          <a:chExt cx="0" cy="0"/>
        </a:xfrm>
      </p:grpSpPr>
      <p:sp>
        <p:nvSpPr>
          <p:cNvPr name="Freeform 2" id="2"/>
          <p:cNvSpPr/>
          <p:nvPr/>
        </p:nvSpPr>
        <p:spPr>
          <a:xfrm flipH="false" flipV="false" rot="-10800000">
            <a:off x="-2805621" y="8942007"/>
            <a:ext cx="8288984" cy="2178906"/>
          </a:xfrm>
          <a:custGeom>
            <a:avLst/>
            <a:gdLst/>
            <a:ahLst/>
            <a:cxnLst/>
            <a:rect r="r" b="b" t="t" l="l"/>
            <a:pathLst>
              <a:path h="2178906" w="8288984">
                <a:moveTo>
                  <a:pt x="0" y="0"/>
                </a:moveTo>
                <a:lnTo>
                  <a:pt x="8288985" y="0"/>
                </a:lnTo>
                <a:lnTo>
                  <a:pt x="8288985" y="2178906"/>
                </a:lnTo>
                <a:lnTo>
                  <a:pt x="0" y="217890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028700" y="2759194"/>
            <a:ext cx="9969435" cy="6179901"/>
          </a:xfrm>
          <a:prstGeom prst="rect">
            <a:avLst/>
          </a:prstGeom>
        </p:spPr>
        <p:txBody>
          <a:bodyPr anchor="t" rtlCol="false" tIns="0" lIns="0" bIns="0" rIns="0">
            <a:spAutoFit/>
          </a:bodyPr>
          <a:lstStyle/>
          <a:p>
            <a:pPr algn="just">
              <a:lnSpc>
                <a:spcPts val="3775"/>
              </a:lnSpc>
            </a:pPr>
            <a:r>
              <a:rPr lang="en-US" sz="2696">
                <a:solidFill>
                  <a:srgbClr val="05061C"/>
                </a:solidFill>
                <a:latin typeface="Canva Sans"/>
                <a:ea typeface="Canva Sans"/>
                <a:cs typeface="Canva Sans"/>
                <a:sym typeface="Canva Sans"/>
              </a:rPr>
              <a:t>Los triggers son esenciales para </a:t>
            </a:r>
            <a:r>
              <a:rPr lang="en-US" sz="2696" b="true">
                <a:solidFill>
                  <a:srgbClr val="05061C"/>
                </a:solidFill>
                <a:latin typeface="Canva Sans Bold"/>
                <a:ea typeface="Canva Sans Bold"/>
                <a:cs typeface="Canva Sans Bold"/>
                <a:sym typeface="Canva Sans Bold"/>
              </a:rPr>
              <a:t>automatizar procesos y reducir la intervención manual.</a:t>
            </a:r>
            <a:r>
              <a:rPr lang="en-US" sz="2696">
                <a:solidFill>
                  <a:srgbClr val="05061C"/>
                </a:solidFill>
                <a:latin typeface="Canva Sans"/>
                <a:ea typeface="Canva Sans"/>
                <a:cs typeface="Canva Sans"/>
                <a:sym typeface="Canva Sans"/>
              </a:rPr>
              <a:t> Aunque consumen recursos, son muy útiles para garantizar que ciertas condiciones se cumplan automáticamente, como la validación de datos antes de una actualización.</a:t>
            </a:r>
          </a:p>
          <a:p>
            <a:pPr algn="just">
              <a:lnSpc>
                <a:spcPts val="3775"/>
              </a:lnSpc>
            </a:pPr>
          </a:p>
          <a:p>
            <a:pPr algn="just">
              <a:lnSpc>
                <a:spcPts val="3775"/>
              </a:lnSpc>
            </a:pPr>
            <a:r>
              <a:rPr lang="en-US" sz="2696">
                <a:solidFill>
                  <a:srgbClr val="05061C"/>
                </a:solidFill>
                <a:latin typeface="Canva Sans"/>
                <a:ea typeface="Canva Sans"/>
                <a:cs typeface="Canva Sans"/>
                <a:sym typeface="Canva Sans"/>
              </a:rPr>
              <a:t>Las transacciones nos permiten definir bloques de código con un nivel de restricción específico, dependiendo del nivel de aislamiento. Esto es particularmente útil para asegurar que las operaciones que afectan múltiples tablas se realicen correctamente. </a:t>
            </a:r>
            <a:r>
              <a:rPr lang="en-US" b="true" sz="2696">
                <a:solidFill>
                  <a:srgbClr val="05061C"/>
                </a:solidFill>
                <a:latin typeface="Canva Sans Bold"/>
                <a:ea typeface="Canva Sans Bold"/>
                <a:cs typeface="Canva Sans Bold"/>
                <a:sym typeface="Canva Sans Bold"/>
              </a:rPr>
              <a:t>Si alguna parte de la transacción falla, se puede deshacer todo el conjunto de operaciones</a:t>
            </a:r>
            <a:r>
              <a:rPr lang="en-US" sz="2696">
                <a:solidFill>
                  <a:srgbClr val="05061C"/>
                </a:solidFill>
                <a:latin typeface="Canva Sans"/>
                <a:ea typeface="Canva Sans"/>
                <a:cs typeface="Canva Sans"/>
                <a:sym typeface="Canva Sans"/>
              </a:rPr>
              <a:t>, manteniendo la integridad de los datos.</a:t>
            </a:r>
          </a:p>
        </p:txBody>
      </p:sp>
      <p:grpSp>
        <p:nvGrpSpPr>
          <p:cNvPr name="Group 4" id="4"/>
          <p:cNvGrpSpPr/>
          <p:nvPr/>
        </p:nvGrpSpPr>
        <p:grpSpPr>
          <a:xfrm rot="0">
            <a:off x="11404611" y="-537405"/>
            <a:ext cx="8817711" cy="11470777"/>
            <a:chOff x="0" y="0"/>
            <a:chExt cx="2322360" cy="3021110"/>
          </a:xfrm>
        </p:grpSpPr>
        <p:sp>
          <p:nvSpPr>
            <p:cNvPr name="Freeform 5" id="5"/>
            <p:cNvSpPr/>
            <p:nvPr/>
          </p:nvSpPr>
          <p:spPr>
            <a:xfrm flipH="false" flipV="false" rot="0">
              <a:off x="0" y="0"/>
              <a:ext cx="2322360" cy="3021110"/>
            </a:xfrm>
            <a:custGeom>
              <a:avLst/>
              <a:gdLst/>
              <a:ahLst/>
              <a:cxnLst/>
              <a:rect r="r" b="b" t="t" l="l"/>
              <a:pathLst>
                <a:path h="3021110" w="2322360">
                  <a:moveTo>
                    <a:pt x="0" y="0"/>
                  </a:moveTo>
                  <a:lnTo>
                    <a:pt x="2322360" y="0"/>
                  </a:lnTo>
                  <a:lnTo>
                    <a:pt x="2322360" y="3021110"/>
                  </a:lnTo>
                  <a:lnTo>
                    <a:pt x="0" y="3021110"/>
                  </a:lnTo>
                  <a:close/>
                </a:path>
              </a:pathLst>
            </a:custGeom>
            <a:solidFill>
              <a:srgbClr val="4E767D"/>
            </a:solidFill>
          </p:spPr>
        </p:sp>
        <p:sp>
          <p:nvSpPr>
            <p:cNvPr name="TextBox 6" id="6"/>
            <p:cNvSpPr txBox="true"/>
            <p:nvPr/>
          </p:nvSpPr>
          <p:spPr>
            <a:xfrm>
              <a:off x="0" y="-47625"/>
              <a:ext cx="2322360" cy="3068735"/>
            </a:xfrm>
            <a:prstGeom prst="rect">
              <a:avLst/>
            </a:prstGeom>
          </p:spPr>
          <p:txBody>
            <a:bodyPr anchor="ctr" rtlCol="false" tIns="50800" lIns="50800" bIns="50800" rIns="50800"/>
            <a:lstStyle/>
            <a:p>
              <a:pPr algn="ctr">
                <a:lnSpc>
                  <a:spcPts val="3174"/>
                </a:lnSpc>
              </a:pPr>
            </a:p>
          </p:txBody>
        </p:sp>
      </p:grpSp>
      <p:sp>
        <p:nvSpPr>
          <p:cNvPr name="TextBox 7" id="7"/>
          <p:cNvSpPr txBox="true"/>
          <p:nvPr/>
        </p:nvSpPr>
        <p:spPr>
          <a:xfrm rot="0">
            <a:off x="1338872" y="857250"/>
            <a:ext cx="9927072" cy="1510012"/>
          </a:xfrm>
          <a:prstGeom prst="rect">
            <a:avLst/>
          </a:prstGeom>
        </p:spPr>
        <p:txBody>
          <a:bodyPr anchor="t" rtlCol="false" tIns="0" lIns="0" bIns="0" rIns="0">
            <a:spAutoFit/>
          </a:bodyPr>
          <a:lstStyle/>
          <a:p>
            <a:pPr algn="l">
              <a:lnSpc>
                <a:spcPts val="12321"/>
              </a:lnSpc>
            </a:pPr>
            <a:r>
              <a:rPr lang="en-US" sz="8800">
                <a:solidFill>
                  <a:srgbClr val="05061C"/>
                </a:solidFill>
                <a:latin typeface="Mokoto"/>
                <a:ea typeface="Mokoto"/>
                <a:cs typeface="Mokoto"/>
                <a:sym typeface="Mokoto"/>
              </a:rPr>
              <a:t>Conclusión:</a:t>
            </a:r>
          </a:p>
        </p:txBody>
      </p:sp>
      <p:sp>
        <p:nvSpPr>
          <p:cNvPr name="Freeform 8" id="8"/>
          <p:cNvSpPr/>
          <p:nvPr/>
        </p:nvSpPr>
        <p:spPr>
          <a:xfrm flipH="true" flipV="false" rot="0">
            <a:off x="11901113" y="1392465"/>
            <a:ext cx="5935599" cy="8229600"/>
          </a:xfrm>
          <a:custGeom>
            <a:avLst/>
            <a:gdLst/>
            <a:ahLst/>
            <a:cxnLst/>
            <a:rect r="r" b="b" t="t" l="l"/>
            <a:pathLst>
              <a:path h="8229600" w="5935599">
                <a:moveTo>
                  <a:pt x="5935599" y="0"/>
                </a:moveTo>
                <a:lnTo>
                  <a:pt x="0" y="0"/>
                </a:lnTo>
                <a:lnTo>
                  <a:pt x="0" y="8229600"/>
                </a:lnTo>
                <a:lnTo>
                  <a:pt x="5935599" y="8229600"/>
                </a:lnTo>
                <a:lnTo>
                  <a:pt x="5935599" y="0"/>
                </a:lnTo>
                <a:close/>
              </a:path>
            </a:pathLst>
          </a:custGeom>
          <a:blipFill>
            <a:blip r:embed="rId4"/>
            <a:stretch>
              <a:fillRect l="0" t="0" r="0" b="0"/>
            </a:stretch>
          </a:blipFill>
        </p:spPr>
      </p:sp>
      <p:sp>
        <p:nvSpPr>
          <p:cNvPr name="Freeform 9" id="9"/>
          <p:cNvSpPr/>
          <p:nvPr/>
        </p:nvSpPr>
        <p:spPr>
          <a:xfrm flipH="false" flipV="false" rot="-10800000">
            <a:off x="15098928" y="-845750"/>
            <a:ext cx="7130775" cy="1874450"/>
          </a:xfrm>
          <a:custGeom>
            <a:avLst/>
            <a:gdLst/>
            <a:ahLst/>
            <a:cxnLst/>
            <a:rect r="r" b="b" t="t" l="l"/>
            <a:pathLst>
              <a:path h="1874450" w="7130775">
                <a:moveTo>
                  <a:pt x="0" y="0"/>
                </a:moveTo>
                <a:lnTo>
                  <a:pt x="7130775" y="0"/>
                </a:lnTo>
                <a:lnTo>
                  <a:pt x="7130775" y="1874450"/>
                </a:lnTo>
                <a:lnTo>
                  <a:pt x="0" y="187445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0F6F5"/>
        </a:solidFill>
      </p:bgPr>
    </p:bg>
    <p:spTree>
      <p:nvGrpSpPr>
        <p:cNvPr id="1" name=""/>
        <p:cNvGrpSpPr/>
        <p:nvPr/>
      </p:nvGrpSpPr>
      <p:grpSpPr>
        <a:xfrm>
          <a:off x="0" y="0"/>
          <a:ext cx="0" cy="0"/>
          <a:chOff x="0" y="0"/>
          <a:chExt cx="0" cy="0"/>
        </a:xfrm>
      </p:grpSpPr>
      <p:sp>
        <p:nvSpPr>
          <p:cNvPr name="TextBox 2" id="2"/>
          <p:cNvSpPr txBox="true"/>
          <p:nvPr/>
        </p:nvSpPr>
        <p:spPr>
          <a:xfrm rot="0">
            <a:off x="671268" y="253441"/>
            <a:ext cx="16945463" cy="836012"/>
          </a:xfrm>
          <a:prstGeom prst="rect">
            <a:avLst/>
          </a:prstGeom>
        </p:spPr>
        <p:txBody>
          <a:bodyPr anchor="t" rtlCol="false" tIns="0" lIns="0" bIns="0" rIns="0">
            <a:spAutoFit/>
          </a:bodyPr>
          <a:lstStyle/>
          <a:p>
            <a:pPr algn="ctr">
              <a:lnSpc>
                <a:spcPts val="6503"/>
              </a:lnSpc>
            </a:pPr>
            <a:r>
              <a:rPr lang="en-US" sz="5655">
                <a:solidFill>
                  <a:srgbClr val="000000"/>
                </a:solidFill>
                <a:latin typeface="Mokoto"/>
                <a:ea typeface="Mokoto"/>
                <a:cs typeface="Mokoto"/>
                <a:sym typeface="Mokoto"/>
              </a:rPr>
              <a:t>MODELO RELACIONAL: </a:t>
            </a:r>
          </a:p>
        </p:txBody>
      </p:sp>
      <p:sp>
        <p:nvSpPr>
          <p:cNvPr name="Freeform 3" id="3"/>
          <p:cNvSpPr/>
          <p:nvPr/>
        </p:nvSpPr>
        <p:spPr>
          <a:xfrm flipH="false" flipV="false" rot="-10800000">
            <a:off x="-5603399" y="1553416"/>
            <a:ext cx="8288984" cy="2178906"/>
          </a:xfrm>
          <a:custGeom>
            <a:avLst/>
            <a:gdLst/>
            <a:ahLst/>
            <a:cxnLst/>
            <a:rect r="r" b="b" t="t" l="l"/>
            <a:pathLst>
              <a:path h="2178906" w="8288984">
                <a:moveTo>
                  <a:pt x="0" y="0"/>
                </a:moveTo>
                <a:lnTo>
                  <a:pt x="8288985" y="0"/>
                </a:lnTo>
                <a:lnTo>
                  <a:pt x="8288985" y="2178905"/>
                </a:lnTo>
                <a:lnTo>
                  <a:pt x="0" y="217890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10800000">
            <a:off x="14879630" y="-1089453"/>
            <a:ext cx="8288984" cy="2178906"/>
          </a:xfrm>
          <a:custGeom>
            <a:avLst/>
            <a:gdLst/>
            <a:ahLst/>
            <a:cxnLst/>
            <a:rect r="r" b="b" t="t" l="l"/>
            <a:pathLst>
              <a:path h="2178906" w="8288984">
                <a:moveTo>
                  <a:pt x="0" y="0"/>
                </a:moveTo>
                <a:lnTo>
                  <a:pt x="8288984" y="0"/>
                </a:lnTo>
                <a:lnTo>
                  <a:pt x="8288984" y="2178906"/>
                </a:lnTo>
                <a:lnTo>
                  <a:pt x="0" y="217890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966957" y="1176990"/>
            <a:ext cx="16354086" cy="8688108"/>
          </a:xfrm>
          <a:custGeom>
            <a:avLst/>
            <a:gdLst/>
            <a:ahLst/>
            <a:cxnLst/>
            <a:rect r="r" b="b" t="t" l="l"/>
            <a:pathLst>
              <a:path h="8688108" w="16354086">
                <a:moveTo>
                  <a:pt x="0" y="0"/>
                </a:moveTo>
                <a:lnTo>
                  <a:pt x="16354086" y="0"/>
                </a:lnTo>
                <a:lnTo>
                  <a:pt x="16354086" y="8688108"/>
                </a:lnTo>
                <a:lnTo>
                  <a:pt x="0" y="8688108"/>
                </a:lnTo>
                <a:lnTo>
                  <a:pt x="0" y="0"/>
                </a:lnTo>
                <a:close/>
              </a:path>
            </a:pathLst>
          </a:custGeom>
          <a:blipFill>
            <a:blip r:embed="rId4"/>
            <a:stretch>
              <a:fillRect l="0" t="0" r="0" b="0"/>
            </a:stretch>
          </a:blipFill>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0F6F5"/>
        </a:solidFill>
      </p:bgPr>
    </p:bg>
    <p:spTree>
      <p:nvGrpSpPr>
        <p:cNvPr id="1" name=""/>
        <p:cNvGrpSpPr/>
        <p:nvPr/>
      </p:nvGrpSpPr>
      <p:grpSpPr>
        <a:xfrm>
          <a:off x="0" y="0"/>
          <a:ext cx="0" cy="0"/>
          <a:chOff x="0" y="0"/>
          <a:chExt cx="0" cy="0"/>
        </a:xfrm>
      </p:grpSpPr>
      <p:sp>
        <p:nvSpPr>
          <p:cNvPr name="Freeform 2" id="2"/>
          <p:cNvSpPr/>
          <p:nvPr/>
        </p:nvSpPr>
        <p:spPr>
          <a:xfrm flipH="false" flipV="false" rot="413682">
            <a:off x="13569905" y="921380"/>
            <a:ext cx="3822749" cy="3814859"/>
          </a:xfrm>
          <a:custGeom>
            <a:avLst/>
            <a:gdLst/>
            <a:ahLst/>
            <a:cxnLst/>
            <a:rect r="r" b="b" t="t" l="l"/>
            <a:pathLst>
              <a:path h="3814859" w="3822749">
                <a:moveTo>
                  <a:pt x="0" y="0"/>
                </a:moveTo>
                <a:lnTo>
                  <a:pt x="3822748" y="0"/>
                </a:lnTo>
                <a:lnTo>
                  <a:pt x="3822748" y="3814858"/>
                </a:lnTo>
                <a:lnTo>
                  <a:pt x="0" y="381485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308582" y="2235327"/>
            <a:ext cx="3834506" cy="6914683"/>
          </a:xfrm>
          <a:custGeom>
            <a:avLst/>
            <a:gdLst/>
            <a:ahLst/>
            <a:cxnLst/>
            <a:rect r="r" b="b" t="t" l="l"/>
            <a:pathLst>
              <a:path h="6914683" w="3834506">
                <a:moveTo>
                  <a:pt x="0" y="0"/>
                </a:moveTo>
                <a:lnTo>
                  <a:pt x="3834506" y="0"/>
                </a:lnTo>
                <a:lnTo>
                  <a:pt x="3834506" y="6914682"/>
                </a:lnTo>
                <a:lnTo>
                  <a:pt x="0" y="691468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10800000">
            <a:off x="-1072270" y="9150009"/>
            <a:ext cx="8288984" cy="2178906"/>
          </a:xfrm>
          <a:custGeom>
            <a:avLst/>
            <a:gdLst/>
            <a:ahLst/>
            <a:cxnLst/>
            <a:rect r="r" b="b" t="t" l="l"/>
            <a:pathLst>
              <a:path h="2178906" w="8288984">
                <a:moveTo>
                  <a:pt x="0" y="0"/>
                </a:moveTo>
                <a:lnTo>
                  <a:pt x="8288984" y="0"/>
                </a:lnTo>
                <a:lnTo>
                  <a:pt x="8288984" y="2178906"/>
                </a:lnTo>
                <a:lnTo>
                  <a:pt x="0" y="217890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5" id="5"/>
          <p:cNvSpPr txBox="true"/>
          <p:nvPr/>
        </p:nvSpPr>
        <p:spPr>
          <a:xfrm rot="0">
            <a:off x="1500651" y="3282776"/>
            <a:ext cx="10807931" cy="2635391"/>
          </a:xfrm>
          <a:prstGeom prst="rect">
            <a:avLst/>
          </a:prstGeom>
        </p:spPr>
        <p:txBody>
          <a:bodyPr anchor="t" rtlCol="false" tIns="0" lIns="0" bIns="0" rIns="0">
            <a:spAutoFit/>
          </a:bodyPr>
          <a:lstStyle/>
          <a:p>
            <a:pPr algn="l">
              <a:lnSpc>
                <a:spcPts val="6992"/>
              </a:lnSpc>
            </a:pPr>
            <a:r>
              <a:rPr lang="en-US" sz="4994">
                <a:solidFill>
                  <a:srgbClr val="05061C"/>
                </a:solidFill>
                <a:latin typeface="Mokoto"/>
                <a:ea typeface="Mokoto"/>
                <a:cs typeface="Mokoto"/>
                <a:sym typeface="Mokoto"/>
              </a:rPr>
              <a:t>Problema 2: Gestión de Pedidos con Validación de Stock</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0F6F5"/>
        </a:solidFill>
      </p:bgPr>
    </p:bg>
    <p:spTree>
      <p:nvGrpSpPr>
        <p:cNvPr id="1" name=""/>
        <p:cNvGrpSpPr/>
        <p:nvPr/>
      </p:nvGrpSpPr>
      <p:grpSpPr>
        <a:xfrm>
          <a:off x="0" y="0"/>
          <a:ext cx="0" cy="0"/>
          <a:chOff x="0" y="0"/>
          <a:chExt cx="0" cy="0"/>
        </a:xfrm>
      </p:grpSpPr>
      <p:sp>
        <p:nvSpPr>
          <p:cNvPr name="TextBox 2" id="2"/>
          <p:cNvSpPr txBox="true"/>
          <p:nvPr/>
        </p:nvSpPr>
        <p:spPr>
          <a:xfrm rot="0">
            <a:off x="1616424" y="5623423"/>
            <a:ext cx="10732245" cy="3269251"/>
          </a:xfrm>
          <a:prstGeom prst="rect">
            <a:avLst/>
          </a:prstGeom>
        </p:spPr>
        <p:txBody>
          <a:bodyPr anchor="t" rtlCol="false" tIns="0" lIns="0" bIns="0" rIns="0">
            <a:spAutoFit/>
          </a:bodyPr>
          <a:lstStyle/>
          <a:p>
            <a:pPr algn="just" marL="0" indent="0" lvl="0">
              <a:lnSpc>
                <a:spcPts val="5195"/>
              </a:lnSpc>
            </a:pPr>
            <a:r>
              <a:rPr lang="en-US" b="true" sz="3906">
                <a:solidFill>
                  <a:srgbClr val="05061C"/>
                </a:solidFill>
                <a:latin typeface="Canva Sans Bold"/>
                <a:ea typeface="Canva Sans Bold"/>
                <a:cs typeface="Canva Sans Bold"/>
                <a:sym typeface="Canva Sans Bold"/>
              </a:rPr>
              <a:t>Diseñar un procedimiento que procese pedidos de clientes, verificando el stock antes de confirmar la compra. Si algún producto no tiene inventario suficiente, la transacción debe fallar.</a:t>
            </a:r>
          </a:p>
        </p:txBody>
      </p:sp>
      <p:grpSp>
        <p:nvGrpSpPr>
          <p:cNvPr name="Group 3" id="3"/>
          <p:cNvGrpSpPr/>
          <p:nvPr/>
        </p:nvGrpSpPr>
        <p:grpSpPr>
          <a:xfrm rot="0">
            <a:off x="-744427" y="1689003"/>
            <a:ext cx="20835606" cy="3277326"/>
            <a:chOff x="0" y="0"/>
            <a:chExt cx="5487567" cy="863164"/>
          </a:xfrm>
        </p:grpSpPr>
        <p:sp>
          <p:nvSpPr>
            <p:cNvPr name="Freeform 4" id="4"/>
            <p:cNvSpPr/>
            <p:nvPr/>
          </p:nvSpPr>
          <p:spPr>
            <a:xfrm flipH="false" flipV="false" rot="0">
              <a:off x="0" y="0"/>
              <a:ext cx="5487567" cy="863164"/>
            </a:xfrm>
            <a:custGeom>
              <a:avLst/>
              <a:gdLst/>
              <a:ahLst/>
              <a:cxnLst/>
              <a:rect r="r" b="b" t="t" l="l"/>
              <a:pathLst>
                <a:path h="863164" w="5487567">
                  <a:moveTo>
                    <a:pt x="0" y="0"/>
                  </a:moveTo>
                  <a:lnTo>
                    <a:pt x="5487567" y="0"/>
                  </a:lnTo>
                  <a:lnTo>
                    <a:pt x="5487567" y="863164"/>
                  </a:lnTo>
                  <a:lnTo>
                    <a:pt x="0" y="863164"/>
                  </a:lnTo>
                  <a:close/>
                </a:path>
              </a:pathLst>
            </a:custGeom>
            <a:solidFill>
              <a:srgbClr val="4E767D"/>
            </a:solidFill>
          </p:spPr>
        </p:sp>
        <p:sp>
          <p:nvSpPr>
            <p:cNvPr name="TextBox 5" id="5"/>
            <p:cNvSpPr txBox="true"/>
            <p:nvPr/>
          </p:nvSpPr>
          <p:spPr>
            <a:xfrm>
              <a:off x="0" y="-47625"/>
              <a:ext cx="5487567" cy="910789"/>
            </a:xfrm>
            <a:prstGeom prst="rect">
              <a:avLst/>
            </a:prstGeom>
          </p:spPr>
          <p:txBody>
            <a:bodyPr anchor="ctr" rtlCol="false" tIns="50800" lIns="50800" bIns="50800" rIns="50800"/>
            <a:lstStyle/>
            <a:p>
              <a:pPr algn="ctr">
                <a:lnSpc>
                  <a:spcPts val="3174"/>
                </a:lnSpc>
              </a:pPr>
            </a:p>
          </p:txBody>
        </p:sp>
      </p:grpSp>
      <p:sp>
        <p:nvSpPr>
          <p:cNvPr name="TextBox 6" id="6"/>
          <p:cNvSpPr txBox="true"/>
          <p:nvPr/>
        </p:nvSpPr>
        <p:spPr>
          <a:xfrm rot="0">
            <a:off x="1778504" y="2847431"/>
            <a:ext cx="15065788" cy="1185423"/>
          </a:xfrm>
          <a:prstGeom prst="rect">
            <a:avLst/>
          </a:prstGeom>
        </p:spPr>
        <p:txBody>
          <a:bodyPr anchor="t" rtlCol="false" tIns="0" lIns="0" bIns="0" rIns="0">
            <a:spAutoFit/>
          </a:bodyPr>
          <a:lstStyle/>
          <a:p>
            <a:pPr algn="l" marL="0" indent="0" lvl="0">
              <a:lnSpc>
                <a:spcPts val="9419"/>
              </a:lnSpc>
            </a:pPr>
            <a:r>
              <a:rPr lang="en-US" sz="7190">
                <a:solidFill>
                  <a:srgbClr val="F0F6F5"/>
                </a:solidFill>
                <a:latin typeface="Mokoto"/>
                <a:ea typeface="Mokoto"/>
                <a:cs typeface="Mokoto"/>
                <a:sym typeface="Mokoto"/>
              </a:rPr>
              <a:t>OBJETIVO:</a:t>
            </a:r>
          </a:p>
        </p:txBody>
      </p:sp>
      <p:sp>
        <p:nvSpPr>
          <p:cNvPr name="Freeform 7" id="7"/>
          <p:cNvSpPr/>
          <p:nvPr/>
        </p:nvSpPr>
        <p:spPr>
          <a:xfrm flipH="false" flipV="false" rot="0">
            <a:off x="14679145" y="507139"/>
            <a:ext cx="2966397" cy="4433474"/>
          </a:xfrm>
          <a:custGeom>
            <a:avLst/>
            <a:gdLst/>
            <a:ahLst/>
            <a:cxnLst/>
            <a:rect r="r" b="b" t="t" l="l"/>
            <a:pathLst>
              <a:path h="4433474" w="2966397">
                <a:moveTo>
                  <a:pt x="0" y="0"/>
                </a:moveTo>
                <a:lnTo>
                  <a:pt x="2966397" y="0"/>
                </a:lnTo>
                <a:lnTo>
                  <a:pt x="2966397" y="4433475"/>
                </a:lnTo>
                <a:lnTo>
                  <a:pt x="0" y="443347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13985739" y="6002695"/>
            <a:ext cx="6991948" cy="3394273"/>
          </a:xfrm>
          <a:custGeom>
            <a:avLst/>
            <a:gdLst/>
            <a:ahLst/>
            <a:cxnLst/>
            <a:rect r="r" b="b" t="t" l="l"/>
            <a:pathLst>
              <a:path h="3394273" w="6991948">
                <a:moveTo>
                  <a:pt x="0" y="0"/>
                </a:moveTo>
                <a:lnTo>
                  <a:pt x="6991948" y="0"/>
                </a:lnTo>
                <a:lnTo>
                  <a:pt x="6991948" y="3394273"/>
                </a:lnTo>
                <a:lnTo>
                  <a:pt x="0" y="339427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0F6F5"/>
        </a:solidFill>
      </p:bgPr>
    </p:bg>
    <p:spTree>
      <p:nvGrpSpPr>
        <p:cNvPr id="1" name=""/>
        <p:cNvGrpSpPr/>
        <p:nvPr/>
      </p:nvGrpSpPr>
      <p:grpSpPr>
        <a:xfrm>
          <a:off x="0" y="0"/>
          <a:ext cx="0" cy="0"/>
          <a:chOff x="0" y="0"/>
          <a:chExt cx="0" cy="0"/>
        </a:xfrm>
      </p:grpSpPr>
      <p:grpSp>
        <p:nvGrpSpPr>
          <p:cNvPr name="Group 2" id="2"/>
          <p:cNvGrpSpPr/>
          <p:nvPr/>
        </p:nvGrpSpPr>
        <p:grpSpPr>
          <a:xfrm rot="0">
            <a:off x="-744427" y="1689003"/>
            <a:ext cx="20835606" cy="3277326"/>
            <a:chOff x="0" y="0"/>
            <a:chExt cx="5487567" cy="863164"/>
          </a:xfrm>
        </p:grpSpPr>
        <p:sp>
          <p:nvSpPr>
            <p:cNvPr name="Freeform 3" id="3"/>
            <p:cNvSpPr/>
            <p:nvPr/>
          </p:nvSpPr>
          <p:spPr>
            <a:xfrm flipH="false" flipV="false" rot="0">
              <a:off x="0" y="0"/>
              <a:ext cx="5487567" cy="863164"/>
            </a:xfrm>
            <a:custGeom>
              <a:avLst/>
              <a:gdLst/>
              <a:ahLst/>
              <a:cxnLst/>
              <a:rect r="r" b="b" t="t" l="l"/>
              <a:pathLst>
                <a:path h="863164" w="5487567">
                  <a:moveTo>
                    <a:pt x="0" y="0"/>
                  </a:moveTo>
                  <a:lnTo>
                    <a:pt x="5487567" y="0"/>
                  </a:lnTo>
                  <a:lnTo>
                    <a:pt x="5487567" y="863164"/>
                  </a:lnTo>
                  <a:lnTo>
                    <a:pt x="0" y="863164"/>
                  </a:lnTo>
                  <a:close/>
                </a:path>
              </a:pathLst>
            </a:custGeom>
            <a:solidFill>
              <a:srgbClr val="4E767D"/>
            </a:solidFill>
          </p:spPr>
        </p:sp>
        <p:sp>
          <p:nvSpPr>
            <p:cNvPr name="TextBox 4" id="4"/>
            <p:cNvSpPr txBox="true"/>
            <p:nvPr/>
          </p:nvSpPr>
          <p:spPr>
            <a:xfrm>
              <a:off x="0" y="-47625"/>
              <a:ext cx="5487567" cy="910789"/>
            </a:xfrm>
            <a:prstGeom prst="rect">
              <a:avLst/>
            </a:prstGeom>
          </p:spPr>
          <p:txBody>
            <a:bodyPr anchor="ctr" rtlCol="false" tIns="50800" lIns="50800" bIns="50800" rIns="50800"/>
            <a:lstStyle/>
            <a:p>
              <a:pPr algn="ctr">
                <a:lnSpc>
                  <a:spcPts val="3174"/>
                </a:lnSpc>
              </a:pPr>
            </a:p>
          </p:txBody>
        </p:sp>
      </p:grpSp>
      <p:sp>
        <p:nvSpPr>
          <p:cNvPr name="TextBox 5" id="5"/>
          <p:cNvSpPr txBox="true"/>
          <p:nvPr/>
        </p:nvSpPr>
        <p:spPr>
          <a:xfrm rot="0">
            <a:off x="1778504" y="2847431"/>
            <a:ext cx="15065788" cy="1185423"/>
          </a:xfrm>
          <a:prstGeom prst="rect">
            <a:avLst/>
          </a:prstGeom>
        </p:spPr>
        <p:txBody>
          <a:bodyPr anchor="t" rtlCol="false" tIns="0" lIns="0" bIns="0" rIns="0">
            <a:spAutoFit/>
          </a:bodyPr>
          <a:lstStyle/>
          <a:p>
            <a:pPr algn="l" marL="0" indent="0" lvl="0">
              <a:lnSpc>
                <a:spcPts val="9419"/>
              </a:lnSpc>
            </a:pPr>
            <a:r>
              <a:rPr lang="en-US" sz="7190">
                <a:solidFill>
                  <a:srgbClr val="F0F6F5"/>
                </a:solidFill>
                <a:latin typeface="Mokoto"/>
                <a:ea typeface="Mokoto"/>
                <a:cs typeface="Mokoto"/>
                <a:sym typeface="Mokoto"/>
              </a:rPr>
              <a:t>OBJETIVO:</a:t>
            </a:r>
          </a:p>
        </p:txBody>
      </p:sp>
      <p:sp>
        <p:nvSpPr>
          <p:cNvPr name="Freeform 6" id="6"/>
          <p:cNvSpPr/>
          <p:nvPr/>
        </p:nvSpPr>
        <p:spPr>
          <a:xfrm flipH="false" flipV="false" rot="0">
            <a:off x="14679145" y="507139"/>
            <a:ext cx="2966397" cy="4433474"/>
          </a:xfrm>
          <a:custGeom>
            <a:avLst/>
            <a:gdLst/>
            <a:ahLst/>
            <a:cxnLst/>
            <a:rect r="r" b="b" t="t" l="l"/>
            <a:pathLst>
              <a:path h="4433474" w="2966397">
                <a:moveTo>
                  <a:pt x="0" y="0"/>
                </a:moveTo>
                <a:lnTo>
                  <a:pt x="2966397" y="0"/>
                </a:lnTo>
                <a:lnTo>
                  <a:pt x="2966397" y="4433475"/>
                </a:lnTo>
                <a:lnTo>
                  <a:pt x="0" y="443347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13763326" y="6194375"/>
            <a:ext cx="6991948" cy="3394273"/>
          </a:xfrm>
          <a:custGeom>
            <a:avLst/>
            <a:gdLst/>
            <a:ahLst/>
            <a:cxnLst/>
            <a:rect r="r" b="b" t="t" l="l"/>
            <a:pathLst>
              <a:path h="3394273" w="6991948">
                <a:moveTo>
                  <a:pt x="0" y="0"/>
                </a:moveTo>
                <a:lnTo>
                  <a:pt x="6991948" y="0"/>
                </a:lnTo>
                <a:lnTo>
                  <a:pt x="6991948" y="3394273"/>
                </a:lnTo>
                <a:lnTo>
                  <a:pt x="0" y="339427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8" id="8"/>
          <p:cNvSpPr txBox="true"/>
          <p:nvPr/>
        </p:nvSpPr>
        <p:spPr>
          <a:xfrm rot="0">
            <a:off x="187559" y="5304485"/>
            <a:ext cx="13798180" cy="3595497"/>
          </a:xfrm>
          <a:prstGeom prst="rect">
            <a:avLst/>
          </a:prstGeom>
        </p:spPr>
        <p:txBody>
          <a:bodyPr anchor="t" rtlCol="false" tIns="0" lIns="0" bIns="0" rIns="0">
            <a:spAutoFit/>
          </a:bodyPr>
          <a:lstStyle/>
          <a:p>
            <a:pPr algn="ctr" marL="496572" indent="-248286" lvl="1">
              <a:lnSpc>
                <a:spcPts val="3174"/>
              </a:lnSpc>
              <a:buAutoNum type="arabicPeriod" startAt="1"/>
            </a:pPr>
            <a:r>
              <a:rPr lang="en-US" sz="2300" spc="-266">
                <a:solidFill>
                  <a:srgbClr val="000000"/>
                </a:solidFill>
                <a:latin typeface="Mokoto"/>
                <a:ea typeface="Mokoto"/>
                <a:cs typeface="Mokoto"/>
                <a:sym typeface="Mokoto"/>
              </a:rPr>
              <a:t>Validar si el pedido existe en la base de datos.</a:t>
            </a:r>
          </a:p>
          <a:p>
            <a:pPr algn="ctr" marL="496572" indent="-248286" lvl="1">
              <a:lnSpc>
                <a:spcPts val="3174"/>
              </a:lnSpc>
              <a:buAutoNum type="arabicPeriod" startAt="1"/>
            </a:pPr>
            <a:r>
              <a:rPr lang="en-US" sz="2300" spc="-266">
                <a:solidFill>
                  <a:srgbClr val="000000"/>
                </a:solidFill>
                <a:latin typeface="Mokoto"/>
                <a:ea typeface="Mokoto"/>
                <a:cs typeface="Mokoto"/>
                <a:sym typeface="Mokoto"/>
              </a:rPr>
              <a:t>Verificar que el inventario sea suficiente para todos los productos del pedido.</a:t>
            </a:r>
          </a:p>
          <a:p>
            <a:pPr algn="ctr" marL="496572" indent="-248286" lvl="1">
              <a:lnSpc>
                <a:spcPts val="3174"/>
              </a:lnSpc>
              <a:buAutoNum type="arabicPeriod" startAt="1"/>
            </a:pPr>
            <a:r>
              <a:rPr lang="en-US" sz="2300" spc="-266">
                <a:solidFill>
                  <a:srgbClr val="000000"/>
                </a:solidFill>
                <a:latin typeface="Mokoto"/>
                <a:ea typeface="Mokoto"/>
                <a:cs typeface="Mokoto"/>
                <a:sym typeface="Mokoto"/>
              </a:rPr>
              <a:t>Actualizar el inventario de los productos en caso de que el pedido pueda procesarse.</a:t>
            </a:r>
          </a:p>
          <a:p>
            <a:pPr algn="ctr" marL="496572" indent="-248286" lvl="1">
              <a:lnSpc>
                <a:spcPts val="3174"/>
              </a:lnSpc>
              <a:buAutoNum type="arabicPeriod" startAt="1"/>
            </a:pPr>
            <a:r>
              <a:rPr lang="en-US" sz="2300" spc="-266">
                <a:solidFill>
                  <a:srgbClr val="000000"/>
                </a:solidFill>
                <a:latin typeface="Mokoto"/>
                <a:ea typeface="Mokoto"/>
                <a:cs typeface="Mokoto"/>
                <a:sym typeface="Mokoto"/>
              </a:rPr>
              <a:t>Registrar o actualizar el estado del pedido en una tabla dedicada.</a:t>
            </a:r>
          </a:p>
          <a:p>
            <a:pPr algn="ctr" marL="496572" indent="-248286" lvl="1">
              <a:lnSpc>
                <a:spcPts val="3174"/>
              </a:lnSpc>
              <a:buAutoNum type="arabicPeriod" startAt="1"/>
            </a:pPr>
            <a:r>
              <a:rPr lang="en-US" sz="2300" spc="-266">
                <a:solidFill>
                  <a:srgbClr val="000000"/>
                </a:solidFill>
                <a:latin typeface="Mokoto"/>
                <a:ea typeface="Mokoto"/>
                <a:cs typeface="Mokoto"/>
                <a:sym typeface="Mokoto"/>
              </a:rPr>
              <a:t>Manejar errores y revertir la transacción si ocurre algún problema.</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4E767D"/>
        </a:solidFill>
      </p:bgPr>
    </p:bg>
    <p:spTree>
      <p:nvGrpSpPr>
        <p:cNvPr id="1" name=""/>
        <p:cNvGrpSpPr/>
        <p:nvPr/>
      </p:nvGrpSpPr>
      <p:grpSpPr>
        <a:xfrm>
          <a:off x="0" y="0"/>
          <a:ext cx="0" cy="0"/>
          <a:chOff x="0" y="0"/>
          <a:chExt cx="0" cy="0"/>
        </a:xfrm>
      </p:grpSpPr>
      <p:sp>
        <p:nvSpPr>
          <p:cNvPr name="Freeform 2" id="2"/>
          <p:cNvSpPr/>
          <p:nvPr/>
        </p:nvSpPr>
        <p:spPr>
          <a:xfrm flipH="true" flipV="false" rot="-10800000">
            <a:off x="12461598" y="-60753"/>
            <a:ext cx="8288984" cy="2178906"/>
          </a:xfrm>
          <a:custGeom>
            <a:avLst/>
            <a:gdLst/>
            <a:ahLst/>
            <a:cxnLst/>
            <a:rect r="r" b="b" t="t" l="l"/>
            <a:pathLst>
              <a:path h="2178906" w="8288984">
                <a:moveTo>
                  <a:pt x="8288984" y="0"/>
                </a:moveTo>
                <a:lnTo>
                  <a:pt x="0" y="0"/>
                </a:lnTo>
                <a:lnTo>
                  <a:pt x="0" y="2178906"/>
                </a:lnTo>
                <a:lnTo>
                  <a:pt x="8288984" y="2178906"/>
                </a:lnTo>
                <a:lnTo>
                  <a:pt x="8288984" y="0"/>
                </a:lnTo>
                <a:close/>
              </a:path>
            </a:pathLst>
          </a:custGeom>
          <a:blipFill>
            <a:blip r:embed="rId2">
              <a:alphaModFix amt="38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028700" y="777208"/>
            <a:ext cx="16374040" cy="8732583"/>
            <a:chOff x="0" y="0"/>
            <a:chExt cx="4312504" cy="2299940"/>
          </a:xfrm>
        </p:grpSpPr>
        <p:sp>
          <p:nvSpPr>
            <p:cNvPr name="Freeform 4" id="4"/>
            <p:cNvSpPr/>
            <p:nvPr/>
          </p:nvSpPr>
          <p:spPr>
            <a:xfrm flipH="false" flipV="false" rot="0">
              <a:off x="0" y="0"/>
              <a:ext cx="4312504" cy="2299940"/>
            </a:xfrm>
            <a:custGeom>
              <a:avLst/>
              <a:gdLst/>
              <a:ahLst/>
              <a:cxnLst/>
              <a:rect r="r" b="b" t="t" l="l"/>
              <a:pathLst>
                <a:path h="2299940" w="4312504">
                  <a:moveTo>
                    <a:pt x="0" y="0"/>
                  </a:moveTo>
                  <a:lnTo>
                    <a:pt x="4312504" y="0"/>
                  </a:lnTo>
                  <a:lnTo>
                    <a:pt x="4312504" y="2299940"/>
                  </a:lnTo>
                  <a:lnTo>
                    <a:pt x="0" y="2299940"/>
                  </a:lnTo>
                  <a:close/>
                </a:path>
              </a:pathLst>
            </a:custGeom>
            <a:solidFill>
              <a:srgbClr val="F0F6F5"/>
            </a:solidFill>
          </p:spPr>
        </p:sp>
        <p:sp>
          <p:nvSpPr>
            <p:cNvPr name="TextBox 5" id="5"/>
            <p:cNvSpPr txBox="true"/>
            <p:nvPr/>
          </p:nvSpPr>
          <p:spPr>
            <a:xfrm>
              <a:off x="0" y="-47625"/>
              <a:ext cx="4312504" cy="2347565"/>
            </a:xfrm>
            <a:prstGeom prst="rect">
              <a:avLst/>
            </a:prstGeom>
          </p:spPr>
          <p:txBody>
            <a:bodyPr anchor="ctr" rtlCol="false" tIns="50800" lIns="50800" bIns="50800" rIns="50800"/>
            <a:lstStyle/>
            <a:p>
              <a:pPr algn="ctr">
                <a:lnSpc>
                  <a:spcPts val="3174"/>
                </a:lnSpc>
              </a:pPr>
            </a:p>
          </p:txBody>
        </p:sp>
      </p:grpSp>
      <p:sp>
        <p:nvSpPr>
          <p:cNvPr name="TextBox 6" id="6"/>
          <p:cNvSpPr txBox="true"/>
          <p:nvPr/>
        </p:nvSpPr>
        <p:spPr>
          <a:xfrm rot="0">
            <a:off x="1430148" y="2925217"/>
            <a:ext cx="15649307" cy="1368737"/>
          </a:xfrm>
          <a:prstGeom prst="rect">
            <a:avLst/>
          </a:prstGeom>
        </p:spPr>
        <p:txBody>
          <a:bodyPr anchor="t" rtlCol="false" tIns="0" lIns="0" bIns="0" rIns="0">
            <a:spAutoFit/>
          </a:bodyPr>
          <a:lstStyle/>
          <a:p>
            <a:pPr algn="ctr" marL="0" indent="0" lvl="0">
              <a:lnSpc>
                <a:spcPts val="10771"/>
              </a:lnSpc>
            </a:pPr>
            <a:r>
              <a:rPr lang="en-US" sz="8976" spc="-394">
                <a:solidFill>
                  <a:srgbClr val="000000"/>
                </a:solidFill>
                <a:latin typeface="Mokoto"/>
                <a:ea typeface="Mokoto"/>
                <a:cs typeface="Mokoto"/>
                <a:sym typeface="Mokoto"/>
              </a:rPr>
              <a:t>CONCLUSIÓN:</a:t>
            </a:r>
          </a:p>
        </p:txBody>
      </p:sp>
      <p:sp>
        <p:nvSpPr>
          <p:cNvPr name="TextBox 7" id="7"/>
          <p:cNvSpPr txBox="true"/>
          <p:nvPr/>
        </p:nvSpPr>
        <p:spPr>
          <a:xfrm rot="0">
            <a:off x="2720500" y="4370154"/>
            <a:ext cx="13593291" cy="4784844"/>
          </a:xfrm>
          <a:prstGeom prst="rect">
            <a:avLst/>
          </a:prstGeom>
        </p:spPr>
        <p:txBody>
          <a:bodyPr anchor="t" rtlCol="false" tIns="0" lIns="0" bIns="0" rIns="0">
            <a:spAutoFit/>
          </a:bodyPr>
          <a:lstStyle/>
          <a:p>
            <a:pPr algn="just">
              <a:lnSpc>
                <a:spcPts val="3837"/>
              </a:lnSpc>
            </a:pPr>
            <a:r>
              <a:rPr lang="en-US" sz="2885" b="true">
                <a:solidFill>
                  <a:srgbClr val="000000"/>
                </a:solidFill>
                <a:latin typeface="Canva Sans Bold"/>
                <a:ea typeface="Canva Sans Bold"/>
                <a:cs typeface="Canva Sans Bold"/>
                <a:sym typeface="Canva Sans Bold"/>
              </a:rPr>
              <a:t>El códig</a:t>
            </a:r>
            <a:r>
              <a:rPr lang="en-US" sz="2885" b="true">
                <a:solidFill>
                  <a:srgbClr val="000000"/>
                </a:solidFill>
                <a:latin typeface="Canva Sans Bold"/>
                <a:ea typeface="Canva Sans Bold"/>
                <a:cs typeface="Canva Sans Bold"/>
                <a:sym typeface="Canva Sans Bold"/>
              </a:rPr>
              <a:t>o presentado cumple con los objetivos planteados al gestionar pedidos de manera eficiente y garantizar la validación de stock antes de confirmarlos. Utiliza funciones, triggers y procedimientos almacenados para:</a:t>
            </a:r>
          </a:p>
          <a:p>
            <a:pPr algn="just" marL="622891" indent="-311446" lvl="1">
              <a:lnSpc>
                <a:spcPts val="3837"/>
              </a:lnSpc>
              <a:buAutoNum type="arabicPeriod" startAt="1"/>
            </a:pPr>
            <a:r>
              <a:rPr lang="en-US" b="true" sz="2885">
                <a:solidFill>
                  <a:srgbClr val="000000"/>
                </a:solidFill>
                <a:latin typeface="Canva Sans Bold"/>
                <a:ea typeface="Canva Sans Bold"/>
                <a:cs typeface="Canva Sans Bold"/>
                <a:sym typeface="Canva Sans Bold"/>
              </a:rPr>
              <a:t>Validar la existencia de pedidos y evitar inconsistencias.</a:t>
            </a:r>
          </a:p>
          <a:p>
            <a:pPr algn="just" marL="622891" indent="-311446" lvl="1">
              <a:lnSpc>
                <a:spcPts val="3837"/>
              </a:lnSpc>
              <a:buAutoNum type="arabicPeriod" startAt="1"/>
            </a:pPr>
            <a:r>
              <a:rPr lang="en-US" b="true" sz="2885">
                <a:solidFill>
                  <a:srgbClr val="000000"/>
                </a:solidFill>
                <a:latin typeface="Canva Sans Bold"/>
                <a:ea typeface="Canva Sans Bold"/>
                <a:cs typeface="Canva Sans Bold"/>
                <a:sym typeface="Canva Sans Bold"/>
              </a:rPr>
              <a:t>Prevenir inventarios negativos mediante un trigger.</a:t>
            </a:r>
          </a:p>
          <a:p>
            <a:pPr algn="just" marL="622891" indent="-311446" lvl="1">
              <a:lnSpc>
                <a:spcPts val="3837"/>
              </a:lnSpc>
              <a:buAutoNum type="arabicPeriod" startAt="1"/>
            </a:pPr>
            <a:r>
              <a:rPr lang="en-US" b="true" sz="2885">
                <a:solidFill>
                  <a:srgbClr val="000000"/>
                </a:solidFill>
                <a:latin typeface="Canva Sans Bold"/>
                <a:ea typeface="Canva Sans Bold"/>
                <a:cs typeface="Canva Sans Bold"/>
                <a:sym typeface="Canva Sans Bold"/>
              </a:rPr>
              <a:t>Actualizar y registrar estados de pedidos con trazabilidad.</a:t>
            </a:r>
          </a:p>
          <a:p>
            <a:pPr algn="just" marL="622891" indent="-311446" lvl="1">
              <a:lnSpc>
                <a:spcPts val="3837"/>
              </a:lnSpc>
              <a:buAutoNum type="arabicPeriod" startAt="1"/>
            </a:pPr>
            <a:r>
              <a:rPr lang="en-US" b="true" sz="2885">
                <a:solidFill>
                  <a:srgbClr val="000000"/>
                </a:solidFill>
                <a:latin typeface="Canva Sans Bold"/>
                <a:ea typeface="Canva Sans Bold"/>
                <a:cs typeface="Canva Sans Bold"/>
                <a:sym typeface="Canva Sans Bold"/>
              </a:rPr>
              <a:t>Manejar transacciones y revertir cambios en caso de errores.</a:t>
            </a:r>
          </a:p>
          <a:p>
            <a:pPr algn="just" marL="622891" indent="-311446" lvl="1">
              <a:lnSpc>
                <a:spcPts val="3837"/>
              </a:lnSpc>
              <a:buAutoNum type="arabicPeriod" startAt="1"/>
            </a:pPr>
            <a:r>
              <a:rPr lang="en-US" b="true" sz="2885">
                <a:solidFill>
                  <a:srgbClr val="000000"/>
                </a:solidFill>
                <a:latin typeface="Canva Sans Bold"/>
                <a:ea typeface="Canva Sans Bold"/>
                <a:cs typeface="Canva Sans Bold"/>
                <a:sym typeface="Canva Sans Bold"/>
              </a:rPr>
              <a:t>Notificar problemas como falta de stock de manera</a:t>
            </a:r>
            <a:r>
              <a:rPr lang="en-US" b="true" sz="2885">
                <a:solidFill>
                  <a:srgbClr val="000000"/>
                </a:solidFill>
                <a:latin typeface="Canva Sans Bold"/>
                <a:ea typeface="Canva Sans Bold"/>
                <a:cs typeface="Canva Sans Bold"/>
                <a:sym typeface="Canva Sans Bold"/>
              </a:rPr>
              <a:t> clara.</a:t>
            </a:r>
          </a:p>
          <a:p>
            <a:pPr algn="just">
              <a:lnSpc>
                <a:spcPts val="3305"/>
              </a:lnSpc>
            </a:pPr>
          </a:p>
        </p:txBody>
      </p:sp>
      <p:sp>
        <p:nvSpPr>
          <p:cNvPr name="Freeform 8" id="8"/>
          <p:cNvSpPr/>
          <p:nvPr/>
        </p:nvSpPr>
        <p:spPr>
          <a:xfrm flipH="false" flipV="false" rot="0">
            <a:off x="-811960" y="7641457"/>
            <a:ext cx="3824759" cy="3859848"/>
          </a:xfrm>
          <a:custGeom>
            <a:avLst/>
            <a:gdLst/>
            <a:ahLst/>
            <a:cxnLst/>
            <a:rect r="r" b="b" t="t" l="l"/>
            <a:pathLst>
              <a:path h="3859848" w="3824759">
                <a:moveTo>
                  <a:pt x="0" y="0"/>
                </a:moveTo>
                <a:lnTo>
                  <a:pt x="3824759" y="0"/>
                </a:lnTo>
                <a:lnTo>
                  <a:pt x="3824759" y="3859848"/>
                </a:lnTo>
                <a:lnTo>
                  <a:pt x="0" y="385984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0">
            <a:off x="15790644" y="-279825"/>
            <a:ext cx="3080752" cy="3103322"/>
          </a:xfrm>
          <a:custGeom>
            <a:avLst/>
            <a:gdLst/>
            <a:ahLst/>
            <a:cxnLst/>
            <a:rect r="r" b="b" t="t" l="l"/>
            <a:pathLst>
              <a:path h="3103322" w="3080752">
                <a:moveTo>
                  <a:pt x="0" y="0"/>
                </a:moveTo>
                <a:lnTo>
                  <a:pt x="3080752" y="0"/>
                </a:lnTo>
                <a:lnTo>
                  <a:pt x="3080752" y="3103322"/>
                </a:lnTo>
                <a:lnTo>
                  <a:pt x="0" y="310332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false" flipV="false" rot="0">
            <a:off x="-1970515" y="-714114"/>
            <a:ext cx="6832222" cy="2832266"/>
          </a:xfrm>
          <a:custGeom>
            <a:avLst/>
            <a:gdLst/>
            <a:ahLst/>
            <a:cxnLst/>
            <a:rect r="r" b="b" t="t" l="l"/>
            <a:pathLst>
              <a:path h="2832266" w="6832222">
                <a:moveTo>
                  <a:pt x="0" y="0"/>
                </a:moveTo>
                <a:lnTo>
                  <a:pt x="6832221" y="0"/>
                </a:lnTo>
                <a:lnTo>
                  <a:pt x="6832221" y="2832267"/>
                </a:lnTo>
                <a:lnTo>
                  <a:pt x="0" y="283226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1" id="11"/>
          <p:cNvSpPr/>
          <p:nvPr/>
        </p:nvSpPr>
        <p:spPr>
          <a:xfrm flipH="false" flipV="false" rot="0">
            <a:off x="16606090" y="7217020"/>
            <a:ext cx="653210" cy="4082561"/>
          </a:xfrm>
          <a:custGeom>
            <a:avLst/>
            <a:gdLst/>
            <a:ahLst/>
            <a:cxnLst/>
            <a:rect r="r" b="b" t="t" l="l"/>
            <a:pathLst>
              <a:path h="4082561" w="653210">
                <a:moveTo>
                  <a:pt x="0" y="0"/>
                </a:moveTo>
                <a:lnTo>
                  <a:pt x="653210" y="0"/>
                </a:lnTo>
                <a:lnTo>
                  <a:pt x="653210" y="4082560"/>
                </a:lnTo>
                <a:lnTo>
                  <a:pt x="0" y="408256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2" id="12"/>
          <p:cNvSpPr/>
          <p:nvPr/>
        </p:nvSpPr>
        <p:spPr>
          <a:xfrm flipH="false" flipV="false" rot="0">
            <a:off x="15496804" y="7217020"/>
            <a:ext cx="586404" cy="4082561"/>
          </a:xfrm>
          <a:custGeom>
            <a:avLst/>
            <a:gdLst/>
            <a:ahLst/>
            <a:cxnLst/>
            <a:rect r="r" b="b" t="t" l="l"/>
            <a:pathLst>
              <a:path h="4082561" w="586404">
                <a:moveTo>
                  <a:pt x="0" y="0"/>
                </a:moveTo>
                <a:lnTo>
                  <a:pt x="586404" y="0"/>
                </a:lnTo>
                <a:lnTo>
                  <a:pt x="586404" y="4082560"/>
                </a:lnTo>
                <a:lnTo>
                  <a:pt x="0" y="408256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3" id="13"/>
          <p:cNvSpPr/>
          <p:nvPr/>
        </p:nvSpPr>
        <p:spPr>
          <a:xfrm flipH="true" flipV="false" rot="0">
            <a:off x="-5860783" y="2668082"/>
            <a:ext cx="8288984" cy="2178906"/>
          </a:xfrm>
          <a:custGeom>
            <a:avLst/>
            <a:gdLst/>
            <a:ahLst/>
            <a:cxnLst/>
            <a:rect r="r" b="b" t="t" l="l"/>
            <a:pathLst>
              <a:path h="2178906" w="8288984">
                <a:moveTo>
                  <a:pt x="8288984" y="0"/>
                </a:moveTo>
                <a:lnTo>
                  <a:pt x="0" y="0"/>
                </a:lnTo>
                <a:lnTo>
                  <a:pt x="0" y="2178906"/>
                </a:lnTo>
                <a:lnTo>
                  <a:pt x="8288984" y="2178906"/>
                </a:lnTo>
                <a:lnTo>
                  <a:pt x="8288984" y="0"/>
                </a:lnTo>
                <a:close/>
              </a:path>
            </a:pathLst>
          </a:custGeom>
          <a:blipFill>
            <a:blip r:embed="rId2">
              <a:alphaModFix amt="38000"/>
              <a:extLst>
                <a:ext uri="{96DAC541-7B7A-43D3-8B79-37D633B846F1}">
                  <asvg:svgBlip xmlns:asvg="http://schemas.microsoft.com/office/drawing/2016/SVG/main" r:embed="rId3"/>
                </a:ext>
              </a:extLst>
            </a:blip>
            <a:stretch>
              <a:fillRect l="0" t="0" r="0" b="0"/>
            </a:stretch>
          </a:blipFill>
        </p:spPr>
      </p:sp>
      <p:sp>
        <p:nvSpPr>
          <p:cNvPr name="Freeform 14" id="14"/>
          <p:cNvSpPr/>
          <p:nvPr/>
        </p:nvSpPr>
        <p:spPr>
          <a:xfrm flipH="true" flipV="false" rot="0">
            <a:off x="7501660" y="8875500"/>
            <a:ext cx="8288984" cy="2178906"/>
          </a:xfrm>
          <a:custGeom>
            <a:avLst/>
            <a:gdLst/>
            <a:ahLst/>
            <a:cxnLst/>
            <a:rect r="r" b="b" t="t" l="l"/>
            <a:pathLst>
              <a:path h="2178906" w="8288984">
                <a:moveTo>
                  <a:pt x="8288984" y="0"/>
                </a:moveTo>
                <a:lnTo>
                  <a:pt x="0" y="0"/>
                </a:lnTo>
                <a:lnTo>
                  <a:pt x="0" y="2178906"/>
                </a:lnTo>
                <a:lnTo>
                  <a:pt x="8288984" y="2178906"/>
                </a:lnTo>
                <a:lnTo>
                  <a:pt x="8288984" y="0"/>
                </a:lnTo>
                <a:close/>
              </a:path>
            </a:pathLst>
          </a:custGeom>
          <a:blipFill>
            <a:blip r:embed="rId2">
              <a:alphaModFix amt="38000"/>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F0F6F5"/>
        </a:solidFill>
      </p:bgPr>
    </p:bg>
    <p:spTree>
      <p:nvGrpSpPr>
        <p:cNvPr id="1" name=""/>
        <p:cNvGrpSpPr/>
        <p:nvPr/>
      </p:nvGrpSpPr>
      <p:grpSpPr>
        <a:xfrm>
          <a:off x="0" y="0"/>
          <a:ext cx="0" cy="0"/>
          <a:chOff x="0" y="0"/>
          <a:chExt cx="0" cy="0"/>
        </a:xfrm>
      </p:grpSpPr>
      <p:sp>
        <p:nvSpPr>
          <p:cNvPr name="TextBox 2" id="2"/>
          <p:cNvSpPr txBox="true"/>
          <p:nvPr/>
        </p:nvSpPr>
        <p:spPr>
          <a:xfrm rot="0">
            <a:off x="2449475" y="1950814"/>
            <a:ext cx="13389049" cy="4025082"/>
          </a:xfrm>
          <a:prstGeom prst="rect">
            <a:avLst/>
          </a:prstGeom>
        </p:spPr>
        <p:txBody>
          <a:bodyPr anchor="t" rtlCol="false" tIns="0" lIns="0" bIns="0" rIns="0">
            <a:spAutoFit/>
          </a:bodyPr>
          <a:lstStyle/>
          <a:p>
            <a:pPr algn="ctr" marL="0" indent="0" lvl="0">
              <a:lnSpc>
                <a:spcPts val="15802"/>
              </a:lnSpc>
            </a:pPr>
            <a:r>
              <a:rPr lang="en-US" sz="13168" spc="-697">
                <a:solidFill>
                  <a:srgbClr val="000000"/>
                </a:solidFill>
                <a:latin typeface="Mokoto"/>
                <a:ea typeface="Mokoto"/>
                <a:cs typeface="Mokoto"/>
                <a:sym typeface="Mokoto"/>
              </a:rPr>
              <a:t>MUCHAS GRACIAS</a:t>
            </a:r>
          </a:p>
        </p:txBody>
      </p:sp>
      <p:sp>
        <p:nvSpPr>
          <p:cNvPr name="Freeform 3" id="3"/>
          <p:cNvSpPr/>
          <p:nvPr/>
        </p:nvSpPr>
        <p:spPr>
          <a:xfrm flipH="false" flipV="false" rot="0">
            <a:off x="-6802679" y="446691"/>
            <a:ext cx="10471816" cy="1523173"/>
          </a:xfrm>
          <a:custGeom>
            <a:avLst/>
            <a:gdLst/>
            <a:ahLst/>
            <a:cxnLst/>
            <a:rect r="r" b="b" t="t" l="l"/>
            <a:pathLst>
              <a:path h="1523173" w="10471816">
                <a:moveTo>
                  <a:pt x="0" y="0"/>
                </a:moveTo>
                <a:lnTo>
                  <a:pt x="10471817" y="0"/>
                </a:lnTo>
                <a:lnTo>
                  <a:pt x="10471817" y="1523173"/>
                </a:lnTo>
                <a:lnTo>
                  <a:pt x="0" y="15231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888213" y="7868825"/>
            <a:ext cx="9453842" cy="3919047"/>
          </a:xfrm>
          <a:custGeom>
            <a:avLst/>
            <a:gdLst/>
            <a:ahLst/>
            <a:cxnLst/>
            <a:rect r="r" b="b" t="t" l="l"/>
            <a:pathLst>
              <a:path h="3919047" w="9453842">
                <a:moveTo>
                  <a:pt x="0" y="0"/>
                </a:moveTo>
                <a:lnTo>
                  <a:pt x="9453843" y="0"/>
                </a:lnTo>
                <a:lnTo>
                  <a:pt x="9453843" y="3919047"/>
                </a:lnTo>
                <a:lnTo>
                  <a:pt x="0" y="391904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5440611" y="7734306"/>
            <a:ext cx="2487716" cy="5105388"/>
          </a:xfrm>
          <a:custGeom>
            <a:avLst/>
            <a:gdLst/>
            <a:ahLst/>
            <a:cxnLst/>
            <a:rect r="r" b="b" t="t" l="l"/>
            <a:pathLst>
              <a:path h="5105388" w="2487716">
                <a:moveTo>
                  <a:pt x="0" y="0"/>
                </a:moveTo>
                <a:lnTo>
                  <a:pt x="2487716" y="0"/>
                </a:lnTo>
                <a:lnTo>
                  <a:pt x="2487716" y="5105388"/>
                </a:lnTo>
                <a:lnTo>
                  <a:pt x="0" y="510538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9184755" y="7734306"/>
            <a:ext cx="2633170" cy="3368008"/>
          </a:xfrm>
          <a:custGeom>
            <a:avLst/>
            <a:gdLst/>
            <a:ahLst/>
            <a:cxnLst/>
            <a:rect r="r" b="b" t="t" l="l"/>
            <a:pathLst>
              <a:path h="3368008" w="2633170">
                <a:moveTo>
                  <a:pt x="0" y="0"/>
                </a:moveTo>
                <a:lnTo>
                  <a:pt x="2633170" y="0"/>
                </a:lnTo>
                <a:lnTo>
                  <a:pt x="2633170" y="3368008"/>
                </a:lnTo>
                <a:lnTo>
                  <a:pt x="0" y="336800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0">
            <a:off x="12212810" y="7868825"/>
            <a:ext cx="2608676" cy="3368008"/>
          </a:xfrm>
          <a:custGeom>
            <a:avLst/>
            <a:gdLst/>
            <a:ahLst/>
            <a:cxnLst/>
            <a:rect r="r" b="b" t="t" l="l"/>
            <a:pathLst>
              <a:path h="3368008" w="2608676">
                <a:moveTo>
                  <a:pt x="0" y="0"/>
                </a:moveTo>
                <a:lnTo>
                  <a:pt x="2608676" y="0"/>
                </a:lnTo>
                <a:lnTo>
                  <a:pt x="2608676" y="3368008"/>
                </a:lnTo>
                <a:lnTo>
                  <a:pt x="0" y="3368008"/>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8" id="8"/>
          <p:cNvSpPr/>
          <p:nvPr/>
        </p:nvSpPr>
        <p:spPr>
          <a:xfrm flipH="false" flipV="false" rot="0">
            <a:off x="13517148" y="0"/>
            <a:ext cx="10471816" cy="1523173"/>
          </a:xfrm>
          <a:custGeom>
            <a:avLst/>
            <a:gdLst/>
            <a:ahLst/>
            <a:cxnLst/>
            <a:rect r="r" b="b" t="t" l="l"/>
            <a:pathLst>
              <a:path h="1523173" w="10471816">
                <a:moveTo>
                  <a:pt x="0" y="0"/>
                </a:moveTo>
                <a:lnTo>
                  <a:pt x="10471817" y="0"/>
                </a:lnTo>
                <a:lnTo>
                  <a:pt x="10471817" y="1523173"/>
                </a:lnTo>
                <a:lnTo>
                  <a:pt x="0" y="15231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9" id="9"/>
          <p:cNvSpPr txBox="true"/>
          <p:nvPr/>
        </p:nvSpPr>
        <p:spPr>
          <a:xfrm rot="0">
            <a:off x="2449475" y="6531569"/>
            <a:ext cx="13389049" cy="580390"/>
          </a:xfrm>
          <a:prstGeom prst="rect">
            <a:avLst/>
          </a:prstGeom>
        </p:spPr>
        <p:txBody>
          <a:bodyPr anchor="t" rtlCol="false" tIns="0" lIns="0" bIns="0" rIns="0">
            <a:spAutoFit/>
          </a:bodyPr>
          <a:lstStyle/>
          <a:p>
            <a:pPr algn="ctr">
              <a:lnSpc>
                <a:spcPts val="4759"/>
              </a:lnSpc>
            </a:pPr>
            <a:r>
              <a:rPr lang="en-US" sz="3399">
                <a:solidFill>
                  <a:srgbClr val="000000"/>
                </a:solidFill>
                <a:latin typeface="Open Sans"/>
                <a:ea typeface="Open Sans"/>
                <a:cs typeface="Open Sans"/>
                <a:sym typeface="Open Sans"/>
                <a:hlinkClick r:id="rId12" tooltip="https://github.com/yumiz04/Intellitech/tree/main/04_SQLServer_StoredProcedures"/>
              </a:rPr>
              <a:t>Puede consultar el código consultado en GitHub.</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DAGY2mA1ChY</dc:identifier>
  <dcterms:modified xsi:type="dcterms:W3CDTF">2011-08-01T06:04:30Z</dcterms:modified>
  <cp:revision>1</cp:revision>
  <dc:title>Presentación Diapositivas Informática y Tecnología Ilustrado Moderno Verde Oscuro</dc:title>
</cp:coreProperties>
</file>